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007f416dc14eb2" /><Relationship Type="http://schemas.openxmlformats.org/officeDocument/2006/relationships/extended-properties" Target="/docProps/app.xml" Id="Rb918ecfef4ed46d9" /><Relationship Type="http://schemas.openxmlformats.org/officeDocument/2006/relationships/officeDocument" Target="/ppt/presentation.xml" Id="Rb11929925d6e4735" /></Relationships>
</file>

<file path=ppt/presentation.xml><?xml version="1.0" encoding="utf-8"?>
<p:presentation xmlns:p="http://schemas.openxmlformats.org/presentationml/2006/main">
  <p:sldMasterIdLst>
    <p:sldMasterId xmlns:r="http://schemas.openxmlformats.org/officeDocument/2006/relationships" id="2147483648" r:id="Rd48b851277ab4f9b"/>
  </p:sldMasterIdLst>
  <p:notesMasterIdLst>
    <p:notesMasterId xmlns:r="http://schemas.openxmlformats.org/officeDocument/2006/relationships" r:id="R4f2fa88bb1134ee2"/>
  </p:notesMasterIdLst>
  <p:sldIdLst>
    <p:sldId xmlns:r="http://schemas.openxmlformats.org/officeDocument/2006/relationships" id="256" r:id="Rb7d5e6afe2784f18"/>
    <p:sldId xmlns:r="http://schemas.openxmlformats.org/officeDocument/2006/relationships" id="257" r:id="Rd06505135abb49b5"/>
    <p:sldId xmlns:r="http://schemas.openxmlformats.org/officeDocument/2006/relationships" id="258" r:id="R71b22cfc68f7403c"/>
    <p:sldId xmlns:r="http://schemas.openxmlformats.org/officeDocument/2006/relationships" id="259" r:id="Rb1bb4d68f80042f1"/>
    <p:sldId xmlns:r="http://schemas.openxmlformats.org/officeDocument/2006/relationships" id="260" r:id="Re7d6fb8ccffd4ada"/>
    <p:sldId xmlns:r="http://schemas.openxmlformats.org/officeDocument/2006/relationships" id="261" r:id="Ra79f4614c3524092"/>
    <p:sldId xmlns:r="http://schemas.openxmlformats.org/officeDocument/2006/relationships" id="262" r:id="Rebaca4a1fe374c22"/>
    <p:sldId xmlns:r="http://schemas.openxmlformats.org/officeDocument/2006/relationships" id="263" r:id="R9a160b76338045f4"/>
    <p:sldId xmlns:r="http://schemas.openxmlformats.org/officeDocument/2006/relationships" id="264" r:id="R80fe34dec21f4893"/>
    <p:sldId xmlns:r="http://schemas.openxmlformats.org/officeDocument/2006/relationships" id="265" r:id="R3687346505b84665"/>
    <p:sldId xmlns:r="http://schemas.openxmlformats.org/officeDocument/2006/relationships" id="266" r:id="R39c4f7979dba48ad"/>
    <p:sldId xmlns:r="http://schemas.openxmlformats.org/officeDocument/2006/relationships" id="267" r:id="R6263553c55a14139"/>
    <p:sldId xmlns:r="http://schemas.openxmlformats.org/officeDocument/2006/relationships" id="268" r:id="Rfa7be09c7fb545f3"/>
    <p:sldId xmlns:r="http://schemas.openxmlformats.org/officeDocument/2006/relationships" id="269" r:id="R2effad3e7e144e2d"/>
    <p:sldId xmlns:r="http://schemas.openxmlformats.org/officeDocument/2006/relationships" id="270" r:id="Rec0001bdd023412e"/>
    <p:sldId xmlns:r="http://schemas.openxmlformats.org/officeDocument/2006/relationships" id="271" r:id="Rbe60a3fd58944028"/>
    <p:sldId xmlns:r="http://schemas.openxmlformats.org/officeDocument/2006/relationships" id="272" r:id="Rc0ac7ecb7f41439e"/>
    <p:sldId xmlns:r="http://schemas.openxmlformats.org/officeDocument/2006/relationships" id="273" r:id="R3bf31c493051455d"/>
    <p:sldId xmlns:r="http://schemas.openxmlformats.org/officeDocument/2006/relationships" id="274" r:id="Rd8b10daf302741fe"/>
    <p:sldId xmlns:r="http://schemas.openxmlformats.org/officeDocument/2006/relationships" id="275" r:id="R1b311b77fef4431b"/>
  </p:sldIdLst>
  <p:sldSz cx="24384000" cy="1371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4d248746f84449" /><Relationship Type="http://schemas.openxmlformats.org/officeDocument/2006/relationships/slideMaster" Target="/ppt/slideMasters/slideMaster1.xml" Id="Rd48b851277ab4f9b" /><Relationship Type="http://schemas.openxmlformats.org/officeDocument/2006/relationships/notesMaster" Target="/ppt/notesMasters/notesMaster1.xml" Id="R4f2fa88bb1134ee2" /><Relationship Type="http://schemas.openxmlformats.org/officeDocument/2006/relationships/presProps" Target="/ppt/presProps.xml" Id="Rf11a6dac673d41b7" /><Relationship Type="http://schemas.openxmlformats.org/officeDocument/2006/relationships/tableStyles" Target="/ppt/tableStyles.xml" Id="Rd9708bb235ee4f0e" /><Relationship Type="http://schemas.openxmlformats.org/officeDocument/2006/relationships/slide" Target="/ppt/slides/slide1.xml" Id="Rb7d5e6afe2784f18" /><Relationship Type="http://schemas.openxmlformats.org/officeDocument/2006/relationships/slide" Target="/ppt/slides/slide2.xml" Id="Rd06505135abb49b5" /><Relationship Type="http://schemas.openxmlformats.org/officeDocument/2006/relationships/slide" Target="/ppt/slides/slide3.xml" Id="R71b22cfc68f7403c" /><Relationship Type="http://schemas.openxmlformats.org/officeDocument/2006/relationships/slide" Target="/ppt/slides/slide4.xml" Id="Rb1bb4d68f80042f1" /><Relationship Type="http://schemas.openxmlformats.org/officeDocument/2006/relationships/slide" Target="/ppt/slides/slide5.xml" Id="Re7d6fb8ccffd4ada" /><Relationship Type="http://schemas.openxmlformats.org/officeDocument/2006/relationships/slide" Target="/ppt/slides/slide6.xml" Id="Ra79f4614c3524092" /><Relationship Type="http://schemas.openxmlformats.org/officeDocument/2006/relationships/slide" Target="/ppt/slides/slide7.xml" Id="Rebaca4a1fe374c22" /><Relationship Type="http://schemas.openxmlformats.org/officeDocument/2006/relationships/slide" Target="/ppt/slides/slide8.xml" Id="R9a160b76338045f4" /><Relationship Type="http://schemas.openxmlformats.org/officeDocument/2006/relationships/slide" Target="/ppt/slides/slide9.xml" Id="R80fe34dec21f4893" /><Relationship Type="http://schemas.openxmlformats.org/officeDocument/2006/relationships/slide" Target="/ppt/slides/slide10.xml" Id="R3687346505b84665" /><Relationship Type="http://schemas.openxmlformats.org/officeDocument/2006/relationships/slide" Target="/ppt/slides/slide11.xml" Id="R39c4f7979dba48ad" /><Relationship Type="http://schemas.openxmlformats.org/officeDocument/2006/relationships/slide" Target="/ppt/slides/slide12.xml" Id="R6263553c55a14139" /><Relationship Type="http://schemas.openxmlformats.org/officeDocument/2006/relationships/slide" Target="/ppt/slides/slide13.xml" Id="Rfa7be09c7fb545f3" /><Relationship Type="http://schemas.openxmlformats.org/officeDocument/2006/relationships/slide" Target="/ppt/slides/slide14.xml" Id="R2effad3e7e144e2d" /><Relationship Type="http://schemas.openxmlformats.org/officeDocument/2006/relationships/slide" Target="/ppt/slides/slide15.xml" Id="Rec0001bdd023412e" /><Relationship Type="http://schemas.openxmlformats.org/officeDocument/2006/relationships/slide" Target="/ppt/slides/slide16.xml" Id="Rbe60a3fd58944028" /><Relationship Type="http://schemas.openxmlformats.org/officeDocument/2006/relationships/slide" Target="/ppt/slides/slide17.xml" Id="Rc0ac7ecb7f41439e" /><Relationship Type="http://schemas.openxmlformats.org/officeDocument/2006/relationships/slide" Target="/ppt/slides/slide18.xml" Id="R3bf31c493051455d" /><Relationship Type="http://schemas.openxmlformats.org/officeDocument/2006/relationships/slide" Target="/ppt/slides/slide19.xml" Id="Rd8b10daf302741fe" /><Relationship Type="http://schemas.openxmlformats.org/officeDocument/2006/relationships/slide" Target="/ppt/slides/slide20.xml" Id="R1b311b77fef443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8e4e67eb6845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Workshop">
      <a:dk1>
        <a:srgbClr val="10110F"/>
      </a:dk1>
      <a:lt1>
        <a:srgbClr val="EEECE3"/>
      </a:lt1>
      <a:dk2>
        <a:srgbClr val="10110F"/>
      </a:dk2>
      <a:lt2>
        <a:srgbClr val="EEECE3"/>
      </a:lt2>
      <a:accent1>
        <a:srgbClr val="C4C898"/>
      </a:accent1>
      <a:accent2>
        <a:srgbClr val="C4C898"/>
      </a:accent2>
      <a:accent3>
        <a:srgbClr val="C4C898"/>
      </a:accent3>
      <a:accent4>
        <a:srgbClr val="C4C898"/>
      </a:accent4>
      <a:accent5>
        <a:srgbClr val="C4C898"/>
      </a:accent5>
      <a:accent6>
        <a:srgbClr val="C4C898"/>
      </a:accent6>
      <a:hlink>
        <a:srgbClr val="C4C898"/>
      </a:hlink>
      <a:folHlink>
        <a:srgbClr val="C4C898"/>
      </a:folHlink>
    </a:clrScheme>
    <a:fontScheme name="Office">
      <a:majorFont>
        <a:latin typeface="Calibri Light"/>
        <a:ea typeface="Calibri Light"/>
        <a:cs typeface="Calibri Light"/>
      </a:majorFont>
      <a:minorFont>
        <a:latin typeface="Calibri"/>
        <a:ea typeface="Calibri"/>
        <a:cs typeface="Calibri"/>
      </a:minorFont>
    </a:fontScheme>
    <a:fmtScheme name="Worksho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cf72cbf5144b92" /><Relationship Type="http://schemas.openxmlformats.org/officeDocument/2006/relationships/notesMaster" Target="/ppt/notesMasters/notesMaster1.xml" Id="R807587398b214e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26ecefb2744f78" /><Relationship Type="http://schemas.openxmlformats.org/officeDocument/2006/relationships/notesMaster" Target="/ppt/notesMasters/notesMaster1.xml" Id="R8a488b15768346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40fbfb402e4b0f" /><Relationship Type="http://schemas.openxmlformats.org/officeDocument/2006/relationships/notesMaster" Target="/ppt/notesMasters/notesMaster1.xml" Id="R9fb39fe04da24e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577d8bd86d4533" /><Relationship Type="http://schemas.openxmlformats.org/officeDocument/2006/relationships/notesMaster" Target="/ppt/notesMasters/notesMaster1.xml" Id="R3c2f46a7a94644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8a391151de4422" /><Relationship Type="http://schemas.openxmlformats.org/officeDocument/2006/relationships/notesMaster" Target="/ppt/notesMasters/notesMaster1.xml" Id="R82e399bf001e42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ee26a6b07043a7" /><Relationship Type="http://schemas.openxmlformats.org/officeDocument/2006/relationships/notesMaster" Target="/ppt/notesMasters/notesMaster1.xml" Id="R81215ea8d38440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73f201340a40c6" /><Relationship Type="http://schemas.openxmlformats.org/officeDocument/2006/relationships/notesMaster" Target="/ppt/notesMasters/notesMaster1.xml" Id="R9b8fe98fb7ea42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27f6da4ea04781" /><Relationship Type="http://schemas.openxmlformats.org/officeDocument/2006/relationships/notesMaster" Target="/ppt/notesMasters/notesMaster1.xml" Id="R752d8d6d9c6f4a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84d1f2697b441c" /><Relationship Type="http://schemas.openxmlformats.org/officeDocument/2006/relationships/notesMaster" Target="/ppt/notesMasters/notesMaster1.xml" Id="R22ac25f62ea34d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09e15dae90452e" /><Relationship Type="http://schemas.openxmlformats.org/officeDocument/2006/relationships/notesMaster" Target="/ppt/notesMasters/notesMaster1.xml" Id="R05458ca4bfba41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935e6d4a2a48e2" /><Relationship Type="http://schemas.openxmlformats.org/officeDocument/2006/relationships/notesMaster" Target="/ppt/notesMasters/notesMaster1.xml" Id="R615b0f0a120545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b937d2344a4a1d" /><Relationship Type="http://schemas.openxmlformats.org/officeDocument/2006/relationships/notesMaster" Target="/ppt/notesMasters/notesMaster1.xml" Id="Re095e20e808a4c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350ebc9e9741cb" /><Relationship Type="http://schemas.openxmlformats.org/officeDocument/2006/relationships/notesMaster" Target="/ppt/notesMasters/notesMaster1.xml" Id="R925ba20cb8b749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988e3f5f9414f3c" /><Relationship Type="http://schemas.openxmlformats.org/officeDocument/2006/relationships/notesMaster" Target="/ppt/notesMasters/notesMaster1.xml" Id="Rb9185c0b784e423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49cb22172041ff" /><Relationship Type="http://schemas.openxmlformats.org/officeDocument/2006/relationships/notesMaster" Target="/ppt/notesMasters/notesMaster1.xml" Id="R435cf076aa89472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060469a67f4f37" /><Relationship Type="http://schemas.openxmlformats.org/officeDocument/2006/relationships/notesMaster" Target="/ppt/notesMasters/notesMaster1.xml" Id="Rf24c5410443b4f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f590ee7f6b24e08" /><Relationship Type="http://schemas.openxmlformats.org/officeDocument/2006/relationships/notesMaster" Target="/ppt/notesMasters/notesMaster1.xml" Id="Rf66d06f8d64d400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05a32fdc5794948" /><Relationship Type="http://schemas.openxmlformats.org/officeDocument/2006/relationships/notesMaster" Target="/ppt/notesMasters/notesMaster1.xml" Id="R8476229ab7534dc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11f2439dfcc4a06" /><Relationship Type="http://schemas.openxmlformats.org/officeDocument/2006/relationships/notesMaster" Target="/ppt/notesMasters/notesMaster1.xml" Id="R3f72ed66ccf5486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c58623103a4cbb" /><Relationship Type="http://schemas.openxmlformats.org/officeDocument/2006/relationships/notesMaster" Target="/ppt/notesMasters/notesMaster1.xml" Id="Rd8804112a1b547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look at what these systems record, how people use them, and where their limits sit. You do not need to buy anything or connect a wallet. This is technical and cultural education, not a recommendation to invest.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a few responses without asking people to disclose holdings, balances, or wallet addresses. Someone interested in digital art may want different things from someone organizing an event. Use those interests in the later discussion. These are learning objectives, not a promise that every participant will master the material in one session.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“non-fungible” through individually identified objects, such as numbered editions. Two tokens can display the same image and still have different identifiers. Avoid suggesting that a unique identifier makes the underlying image scarce or valuable. Use a conceptual token throughout the diagrams. No real collection or contract is shown.</a:t>
            </a:r>
          </a:p>
          <a:p xmlns:a="http://schemas.openxmlformats.org/drawingml/2006/main">
            <a:r>
              <a:t/>
            </a:r>
          </a:p>
          <a:p xmlns:a="http://schemas.openxmlformats.org/drawingml/2006/main">
            <a:r>
              <a:t>Sources</a:t>
            </a:r>
          </a:p>
          <a:p xmlns:a="http://schemas.openxmlformats.org/drawingml/2006/main">
            <a:r>
              <a:t>Ethereum NFT introduction: https://ethereum.org/nft/, ERC-721: https://eips.ethereum.org/EIPS/eip-721.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NFT does not live inside a phone app as a downloaded object. The app shows information about the account and helps authorize actions. Recovery methods vary between wallet types. For a conventional self-custody wallet, exposing the recovery phrase can expose its assets. Do not ask anyone to create a wallet or show recovery information in this workshop.</a:t>
            </a:r>
          </a:p>
          <a:p xmlns:a="http://schemas.openxmlformats.org/drawingml/2006/main">
            <a:r>
              <a:t/>
            </a:r>
          </a:p>
          <a:p xmlns:a="http://schemas.openxmlformats.org/drawingml/2006/main">
            <a:r>
              <a:t>Sources</a:t>
            </a:r>
          </a:p>
          <a:p xmlns:a="http://schemas.openxmlformats.org/drawingml/2006/main">
            <a:r>
              <a:t>Wallets: https://ethereum.org/wallets/, Accounts: https://ethereum.org/developers/docs/accounts/, Security: https://ethereum.org/security/.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the network and an explorer website. A site displays the records but does not define them. Checking a transfer can answer which accounts participated. It cannot, on its own, establish why they did so or who the people behind the accounts are. Ethereum now uses proof-of-stake. The original workshop predates that transition.</a:t>
            </a:r>
          </a:p>
          <a:p xmlns:a="http://schemas.openxmlformats.org/drawingml/2006/main">
            <a:r>
              <a:t/>
            </a:r>
          </a:p>
          <a:p xmlns:a="http://schemas.openxmlformats.org/drawingml/2006/main">
            <a:r>
              <a:t>Sources</a:t>
            </a:r>
          </a:p>
          <a:p xmlns:a="http://schemas.openxmlformats.org/drawingml/2006/main">
            <a:r>
              <a:t>Transactions: https://ethereum.org/developers/docs/transactions/, The Merge: https://ethereum.org/roadmap/merge/.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simple transfer rule: the caller needs the appropriate authority before the contract changes ownership. Explain that websites, contract code, and project promises can differ. Contracts can contain bugs, administrative powers, or upgrade mechanisms. “Smart contract” does not mean a program understands intent or guarantees a good outcome. Keep code syntax in the appendix.</a:t>
            </a:r>
          </a:p>
          <a:p xmlns:a="http://schemas.openxmlformats.org/drawingml/2006/main">
            <a:r>
              <a:t/>
            </a:r>
          </a:p>
          <a:p xmlns:a="http://schemas.openxmlformats.org/drawingml/2006/main">
            <a:r>
              <a:t>Sources</a:t>
            </a:r>
          </a:p>
          <a:p xmlns:a="http://schemas.openxmlformats.org/drawingml/2006/main">
            <a:r>
              <a:t>Introduction to smart contracts: https://ethereum.org/developers/docs/smart-contracts/.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a conceptual token. Distinguish connecting a wallet from authorizing a mint. The contract may reject the transaction if its conditions are not met. A website animation alone does not establish success. A purchase can include several actions, so avoid presenting this simple flow as every marketplace's exact process.</a:t>
            </a:r>
          </a:p>
          <a:p xmlns:a="http://schemas.openxmlformats.org/drawingml/2006/main">
            <a:r>
              <a:t/>
            </a:r>
          </a:p>
          <a:p xmlns:a="http://schemas.openxmlformats.org/drawingml/2006/main">
            <a:r>
              <a:t>Sources</a:t>
            </a:r>
          </a:p>
          <a:p xmlns:a="http://schemas.openxmlformats.org/drawingml/2006/main">
            <a:r>
              <a:t>ERC-721: https://eips.ethereum.org/EIPS/eip-721, Transactions: https://ethereum.org/developers/docs/transactions/.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estimated fee shown by a wallet as an example, without presenting it as a quote for a future transaction. For Ethereum mainnet, explain that the base fee is burned and the priority fee goes to the validator. Different operations use different amounts of gas. Leave detailed fee fields and arithmetic to the appendix. Other networks and layer 2 systems may add different fee components.</a:t>
            </a:r>
          </a:p>
          <a:p xmlns:a="http://schemas.openxmlformats.org/drawingml/2006/main">
            <a:r>
              <a:t/>
            </a:r>
          </a:p>
          <a:p xmlns:a="http://schemas.openxmlformats.org/drawingml/2006/main">
            <a:r>
              <a:t>Sources</a:t>
            </a:r>
          </a:p>
          <a:p xmlns:a="http://schemas.openxmlformats.org/drawingml/2006/main">
            <a:r>
              <a:t>Gas and fees: https://ethereum.org/developers/docs/gas/.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conceptual diagram on this slide. A metadata document can include a name, description, and image reference. Some projects store data onchain, while others use external storage. Do not assume one architecture applies to all NFTs. Explain IPFS as addressing content by its identifier. Continued availability still needs someone to retain and serve the content, such as through pinning.</a:t>
            </a:r>
          </a:p>
          <a:p xmlns:a="http://schemas.openxmlformats.org/drawingml/2006/main">
            <a:r>
              <a:t/>
            </a:r>
          </a:p>
          <a:p xmlns:a="http://schemas.openxmlformats.org/drawingml/2006/main">
            <a:r>
              <a:t>Sources</a:t>
            </a:r>
          </a:p>
          <a:p xmlns:a="http://schemas.openxmlformats.org/drawingml/2006/main">
            <a:r>
              <a:t>ERC-721: https://eips.ethereum.org/EIPS/eip-721, IPFS content identifiers: https://docs.ipfs.tech/concepts/content-addressing/, IPFS persistence: https://docs.ipfs.tech/concepts/persistence/.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this to the audience's experience of editions, archives, and attribution. Consider a copied image minted by a stranger. The existence of a token does not settle authorship. Trace the artist's own publication of the collection address and other corroborating records. Avoid reducing provenance to a measure of price or implying that checking a contract settles every authenticity question.</a:t>
            </a:r>
          </a:p>
          <a:p xmlns:a="http://schemas.openxmlformats.org/drawingml/2006/main">
            <a:r>
              <a:t/>
            </a:r>
          </a:p>
          <a:p xmlns:a="http://schemas.openxmlformats.org/drawingml/2006/main">
            <a:r>
              <a:t>Sources</a:t>
            </a:r>
          </a:p>
          <a:p xmlns:a="http://schemas.openxmlformats.org/drawingml/2006/main">
            <a:r>
              <a:t>Ethereum NFT introduction: https://ethereum.org/nft/, U.S. Copyright Office NFT study: https://www.copyright.gov/policy/nft-study/.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Buying a token does not automatically transfer copyright in its associated artwork. Rights depend on the applicable license, agreement, and law. An access benefit may depend on a website or organization continuing to operate. This is a literacy exercise, not legal advice about a specific purchase or license. Ask participants to distinguish a published term from a social-media promise.</a:t>
            </a:r>
          </a:p>
          <a:p xmlns:a="http://schemas.openxmlformats.org/drawingml/2006/main">
            <a:r>
              <a:t/>
            </a:r>
          </a:p>
          <a:p xmlns:a="http://schemas.openxmlformats.org/drawingml/2006/main">
            <a:r>
              <a:t>Sources</a:t>
            </a:r>
          </a:p>
          <a:p xmlns:a="http://schemas.openxmlformats.org/drawingml/2006/main">
            <a:r>
              <a:t>U.S. Copyright Office and USPTO NFT study: https://www.copyright.gov/policy/nft-study/.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signature can authorize an action someone submits later. A token approval can grant another address permission to move assets. Avoid reducing safety to “no fee means safe” or “hardware wallet means safe.” Keep the discussion read-only, using the conceptual examples. Nobody should enter a recovery phrase, connect a funded wallet, or approve a transaction for class participation.</a:t>
            </a:r>
          </a:p>
          <a:p xmlns:a="http://schemas.openxmlformats.org/drawingml/2006/main">
            <a:r>
              <a:t/>
            </a:r>
          </a:p>
          <a:p xmlns:a="http://schemas.openxmlformats.org/drawingml/2006/main">
            <a:r>
              <a:t>Sources</a:t>
            </a:r>
          </a:p>
          <a:p xmlns:a="http://schemas.openxmlformats.org/drawingml/2006/main">
            <a:r>
              <a:t>Ethereum security: https://ethereum.org/security/, Authentication on Ethereum: https://ethereum.org/developers/docs/ethereum-stack/authentication/.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pairs five minutes. Use the hypothetical collection-page description on this slide. Ask them to identify one supported statement, one promise, and one unresolved question. A price display alone does not establish value, authenticity, or a future resale opportunity.</a:t>
            </a:r>
          </a:p>
          <a:p xmlns:a="http://schemas.openxmlformats.org/drawingml/2006/main">
            <a:r>
              <a:t/>
            </a:r>
          </a:p>
          <a:p xmlns:a="http://schemas.openxmlformats.org/drawingml/2006/main">
            <a:r>
              <a:t>Suggested debrief: a working contract link gives a route to inspect token records. It still needs comparison with the creator's published address. A promise of future events leaves questions about the organizer, resources, conditions, and delivery. Reward a well-supported “we don't know.” No wallet actions or purchases belong in the exercise.</a:t>
            </a:r>
          </a:p>
          <a:p xmlns:a="http://schemas.openxmlformats.org/drawingml/2006/main">
            <a:r>
              <a:t/>
            </a:r>
          </a:p>
          <a:p xmlns:a="http://schemas.openxmlformats.org/drawingml/2006/main">
            <a:r>
              <a:t>Sources</a:t>
            </a:r>
          </a:p>
          <a:p xmlns:a="http://schemas.openxmlformats.org/drawingml/2006/main">
            <a:r>
              <a:t>teaching exercise proposed for this revision, informed by slides 9–12. No claim that this exercise occurred in 2022.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 the original workshop's emphasis on contribution and genuine interest. Discuss a hypothetical artist group that wants to hold a recurring critique session. What would organizers need to provide? Would token gating help, or would a simpler membership method meet the need? Ask about cost, accessibility, moderation, and what happens when an organizer leaves. Technology should follow the purpose of the group.</a:t>
            </a:r>
          </a:p>
          <a:p xmlns:a="http://schemas.openxmlformats.org/drawingml/2006/main">
            <a:r>
              <a:t/>
            </a:r>
          </a:p>
          <a:p xmlns:a="http://schemas.openxmlformats.org/drawingml/2006/main">
            <a:r>
              <a:t>Sources</a:t>
            </a:r>
          </a:p>
          <a:p xmlns:a="http://schemas.openxmlformats.org/drawingml/2006/main">
            <a:r>
              <a:t>original workshop slides 35 and 43. The scenario is a new teaching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answers in ordinary language. Suggested checkpoints: the token and image can live in different places, authorization depends on the request, and code or transaction history does not establish every claim about people or future delivery. Revisit the opening questions. Treat remaining uncertainty as a useful result rather than a failed quiz. Offer participants a written route to follow up without disclosing personal wallet information.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linked reading list appears on this slide and in these notes. Learners can start with the introductory pages and use the standard as a reference. Technical and platform-specific details change. Recheck examples before another delivery.</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Primary references checked for the draft on September 16, 2026:</a:t>
            </a:r>
          </a:p>
          <a:p xmlns:a="http://schemas.openxmlformats.org/drawingml/2006/main">
            <a:r>
              <a:t/>
            </a:r>
          </a:p>
          <a:p xmlns:a="http://schemas.openxmlformats.org/drawingml/2006/main">
            <a:r>
              <a:t>- NFT introduction: https://ethereum.org/nft/</a:t>
            </a:r>
          </a:p>
          <a:p xmlns:a="http://schemas.openxmlformats.org/drawingml/2006/main">
            <a:r>
              <a:t>- Ethereum wallets: https://ethereum.org/wallets/</a:t>
            </a:r>
          </a:p>
          <a:p xmlns:a="http://schemas.openxmlformats.org/drawingml/2006/main">
            <a:r>
              <a:t>- Ethereum accounts: https://ethereum.org/developers/docs/accounts/</a:t>
            </a:r>
          </a:p>
          <a:p xmlns:a="http://schemas.openxmlformats.org/drawingml/2006/main">
            <a:r>
              <a:t>- Ethereum transactions: https://ethereum.org/developers/docs/transactions/</a:t>
            </a:r>
          </a:p>
          <a:p xmlns:a="http://schemas.openxmlformats.org/drawingml/2006/main">
            <a:r>
              <a:t>- Introduction to smart contracts: https://ethereum.org/developers/docs/smart-contracts/</a:t>
            </a:r>
          </a:p>
          <a:p xmlns:a="http://schemas.openxmlformats.org/drawingml/2006/main">
            <a:r>
              <a:t>- Gas and fees: https://ethereum.org/developers/docs/gas/</a:t>
            </a:r>
          </a:p>
          <a:p xmlns:a="http://schemas.openxmlformats.org/drawingml/2006/main">
            <a:r>
              <a:t>- Ethereum security: https://ethereum.org/security/</a:t>
            </a:r>
          </a:p>
          <a:p xmlns:a="http://schemas.openxmlformats.org/drawingml/2006/main">
            <a:r>
              <a:t>- Authentication on Ethereum: https://ethereum.org/developers/docs/ethereum-stack/authentication/</a:t>
            </a:r>
          </a:p>
          <a:p xmlns:a="http://schemas.openxmlformats.org/drawingml/2006/main">
            <a:r>
              <a:t>- ERC-721: https://eips.ethereum.org/EIPS/eip-721</a:t>
            </a:r>
          </a:p>
          <a:p xmlns:a="http://schemas.openxmlformats.org/drawingml/2006/main">
            <a:r>
              <a:t>- The Merge: https://ethereum.org/roadmap/merge/</a:t>
            </a:r>
          </a:p>
          <a:p xmlns:a="http://schemas.openxmlformats.org/drawingml/2006/main">
            <a:r>
              <a:t>- EIP-1559: https://eips.ethereum.org/EIPS/eip-1559</a:t>
            </a:r>
          </a:p>
          <a:p xmlns:a="http://schemas.openxmlformats.org/drawingml/2006/main">
            <a:r>
              <a:t>- EIP-7702: https://eips.ethereum.org/EIPS/eip-7702</a:t>
            </a:r>
          </a:p>
          <a:p xmlns:a="http://schemas.openxmlformats.org/drawingml/2006/main">
            <a:r>
              <a:t>- Patricia Merkle Trie: https://ethereum.org/developers/docs/data-structures-and-encoding/patricia-merkle-trie/</a:t>
            </a:r>
          </a:p>
          <a:p xmlns:a="http://schemas.openxmlformats.org/drawingml/2006/main">
            <a:r>
              <a:t>- IPFS content identifiers: https://docs.ipfs.tech/concepts/content-addressing/</a:t>
            </a:r>
          </a:p>
          <a:p xmlns:a="http://schemas.openxmlformats.org/drawingml/2006/main">
            <a:r>
              <a:t>- IPFS persistence: https://docs.ipfs.tech/concepts/persistence/</a:t>
            </a:r>
          </a:p>
          <a:p xmlns:a="http://schemas.openxmlformats.org/drawingml/2006/main">
            <a:r>
              <a:t>- U.S. Copyright Office NFT study: https://www.copyright.gov/policy/nft-study/</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genuine historical change from simplifications that already needed correction. The original proof-of-work context belongs to its time. Its fixed per-step gas claims and simplified miner-payment description should not carry into the revision. Do not imply that the Merge itself introduced the EIP-1559 fee model or made transaction fees disappear.</a:t>
            </a:r>
          </a:p>
          <a:p xmlns:a="http://schemas.openxmlformats.org/drawingml/2006/main">
            <a:r>
              <a:t/>
            </a:r>
          </a:p>
          <a:p xmlns:a="http://schemas.openxmlformats.org/drawingml/2006/main">
            <a:r>
              <a:t>Sources</a:t>
            </a:r>
          </a:p>
          <a:p xmlns:a="http://schemas.openxmlformats.org/drawingml/2006/main">
            <a:r>
              <a:t>The Merge: https://ethereum.org/roadmap/merge/, EIP-1559: https://eips.ethereum.org/EIPS/eip-1559.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only when someone asks what happens below the interface. Define the nonce as part of transaction sequencing. Avoid the original blanket statement that externally owned accounts can never have code behavior: modern delegation mechanisms require a more careful explanation. The beginner deck does not need to teach opcodes or account-abstraction architecture.</a:t>
            </a:r>
          </a:p>
          <a:p xmlns:a="http://schemas.openxmlformats.org/drawingml/2006/main">
            <a:r>
              <a:t/>
            </a:r>
          </a:p>
          <a:p xmlns:a="http://schemas.openxmlformats.org/drawingml/2006/main">
            <a:r>
              <a:t>Sources</a:t>
            </a:r>
          </a:p>
          <a:p xmlns:a="http://schemas.openxmlformats.org/drawingml/2006/main">
            <a:r>
              <a:t>Accounts: https://ethereum.org/developers/docs/accounts/, Transactions: https://ethereum.org/developers/docs/transactions/, EIP-7702: https://eips.ethereum.org/EIPS/eip-7702.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values are chosen for arithmetic, not taken from a mint or offered as a price estimate. One gwei equals one billionth of an ETH. Distinguish actual gas used from the gas limit, which is a cap. For a simple type-2 fee discussion, effective price includes the base fee and the applicable priority fee within the transaction's fee cap. A failed included transaction still consumes gas. Do not extrapolate this number to another transaction or network.</a:t>
            </a:r>
          </a:p>
          <a:p xmlns:a="http://schemas.openxmlformats.org/drawingml/2006/main">
            <a:r>
              <a:t/>
            </a:r>
          </a:p>
          <a:p xmlns:a="http://schemas.openxmlformats.org/drawingml/2006/main">
            <a:r>
              <a:t>Sources</a:t>
            </a:r>
          </a:p>
          <a:p xmlns:a="http://schemas.openxmlformats.org/drawingml/2006/main">
            <a:r>
              <a:t>Gas and fees: https://ethereum.org/developers/docs/gas/.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small conceptual tree to explain the original Merkle topic. Ethereum uses more specific structures, so label the illustration as conceptual. Distinguish inclusion from truth: a proof can establish a relationship to a root, but it does not independently tell us who made an artwork or whether an external claim is honest. Do not equate a Merkle proof with proof-of-work consensus.</a:t>
            </a:r>
          </a:p>
          <a:p xmlns:a="http://schemas.openxmlformats.org/drawingml/2006/main">
            <a:r>
              <a:t/>
            </a:r>
          </a:p>
          <a:p xmlns:a="http://schemas.openxmlformats.org/drawingml/2006/main">
            <a:r>
              <a:t>Sources</a:t>
            </a:r>
          </a:p>
          <a:p xmlns:a="http://schemas.openxmlformats.org/drawingml/2006/main">
            <a:r>
              <a:t>Ethereum Patricia Merkle Trie documentation: https://ethereum.org/developers/docs/data-structures-and-encoding/patricia-merkle-trie/.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6020644e564e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6db9774b874686" /><Relationship Type="http://schemas.openxmlformats.org/officeDocument/2006/relationships/slideLayout" Target="/ppt/slideLayouts/slideLayout1.xml" Id="R703ba63969034d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3ba63969034d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Workshop">
      <a:dk1>
        <a:srgbClr val="10110F"/>
      </a:dk1>
      <a:lt1>
        <a:srgbClr val="EEECE3"/>
      </a:lt1>
      <a:dk2>
        <a:srgbClr val="10110F"/>
      </a:dk2>
      <a:lt2>
        <a:srgbClr val="EEECE3"/>
      </a:lt2>
      <a:accent1>
        <a:srgbClr val="C4C898"/>
      </a:accent1>
      <a:accent2>
        <a:srgbClr val="C4C898"/>
      </a:accent2>
      <a:accent3>
        <a:srgbClr val="C4C898"/>
      </a:accent3>
      <a:accent4>
        <a:srgbClr val="C4C898"/>
      </a:accent4>
      <a:accent5>
        <a:srgbClr val="C4C898"/>
      </a:accent5>
      <a:accent6>
        <a:srgbClr val="C4C898"/>
      </a:accent6>
      <a:hlink>
        <a:srgbClr val="C4C898"/>
      </a:hlink>
      <a:folHlink>
        <a:srgbClr val="C4C898"/>
      </a:folHlink>
    </a:clrScheme>
    <a:fontScheme name="Office">
      <a:majorFont>
        <a:latin typeface="Calibri Light"/>
        <a:ea typeface="Calibri Light"/>
        <a:cs typeface="Calibri Light"/>
      </a:majorFont>
      <a:minorFont>
        <a:latin typeface="Calibri"/>
        <a:ea typeface="Calibri"/>
        <a:cs typeface="Calibri"/>
      </a:minorFont>
    </a:fontScheme>
    <a:fmtScheme name="Worksho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8cb2b292de48a9" /><Relationship Type="http://schemas.openxmlformats.org/officeDocument/2006/relationships/notesSlide" Target="/ppt/notesSlides/notesSlide1.xml" Id="R5d8e26a708924d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0f3d9317a64b6f" /><Relationship Type="http://schemas.openxmlformats.org/officeDocument/2006/relationships/notesSlide" Target="/ppt/notesSlides/notesSlide2.xml" Id="Rcb3387b6416f4e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2fbf0f26e1f4beb" /><Relationship Type="http://schemas.openxmlformats.org/officeDocument/2006/relationships/notesSlide" Target="/ppt/notesSlides/notesSlide3.xml" Id="Rbd803df34cad4d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3b963a39434f8b" /><Relationship Type="http://schemas.openxmlformats.org/officeDocument/2006/relationships/notesSlide" Target="/ppt/notesSlides/notesSlide4.xml" Id="Rfa3400fb010e4a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2ceeb956bf4feb" /><Relationship Type="http://schemas.openxmlformats.org/officeDocument/2006/relationships/notesSlide" Target="/ppt/notesSlides/notesSlide5.xml" Id="Rf9fa5384ae5a47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7eed83470014f2f" /><Relationship Type="http://schemas.openxmlformats.org/officeDocument/2006/relationships/notesSlide" Target="/ppt/notesSlides/notesSlide6.xml" Id="Rbe6119ca02e248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5b09968ee24fad" /><Relationship Type="http://schemas.openxmlformats.org/officeDocument/2006/relationships/notesSlide" Target="/ppt/notesSlides/notesSlide7.xml" Id="R18c3726d89ec4c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84c614552e4b6f" /><Relationship Type="http://schemas.openxmlformats.org/officeDocument/2006/relationships/notesSlide" Target="/ppt/notesSlides/notesSlide8.xml" Id="R6ffa1d777a224a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03d6bf35ec14ade" /><Relationship Type="http://schemas.openxmlformats.org/officeDocument/2006/relationships/notesSlide" Target="/ppt/notesSlides/notesSlide9.xml" Id="Rcef16537bc2844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7b4ed228df415e" /><Relationship Type="http://schemas.openxmlformats.org/officeDocument/2006/relationships/notesSlide" Target="/ppt/notesSlides/notesSlide10.xml" Id="R3d47065576da43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d5138065824357" /><Relationship Type="http://schemas.openxmlformats.org/officeDocument/2006/relationships/notesSlide" Target="/ppt/notesSlides/notesSlide11.xml" Id="Raab1e7a2710345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d27d97414a746d8" /><Relationship Type="http://schemas.openxmlformats.org/officeDocument/2006/relationships/notesSlide" Target="/ppt/notesSlides/notesSlide12.xml" Id="R7077152cfce84c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1eb1f50884449a9" /><Relationship Type="http://schemas.openxmlformats.org/officeDocument/2006/relationships/notesSlide" Target="/ppt/notesSlides/notesSlide13.xml" Id="Re4d5b1edf55f411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30a4be7e53b4aaf" /><Relationship Type="http://schemas.openxmlformats.org/officeDocument/2006/relationships/notesSlide" Target="/ppt/notesSlides/notesSlide14.xml" Id="R3af33f5f8ee648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5734672325a40a8" /><Relationship Type="http://schemas.openxmlformats.org/officeDocument/2006/relationships/notesSlide" Target="/ppt/notesSlides/notesSlide15.xml" Id="R559bd224eda74d6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3e5c43cc3e749bd" /><Relationship Type="http://schemas.openxmlformats.org/officeDocument/2006/relationships/hyperlink" Target="https://ethereum.org/nft/" TargetMode="External" Id="Rd42e5699e75f4807" /><Relationship Type="http://schemas.openxmlformats.org/officeDocument/2006/relationships/hyperlink" Target="https://eips.ethereum.org/EIPS/eip-721" TargetMode="External" Id="Ra4ca4b80ba3547b1" /><Relationship Type="http://schemas.openxmlformats.org/officeDocument/2006/relationships/hyperlink" Target="https://docs.ipfs.tech/concepts/persistence/" TargetMode="External" Id="R74a84d70c0684940" /><Relationship Type="http://schemas.openxmlformats.org/officeDocument/2006/relationships/hyperlink" Target="https://www.copyright.gov/policy/nft-study/" TargetMode="External" Id="R5401a03a522b4f6f" /><Relationship Type="http://schemas.openxmlformats.org/officeDocument/2006/relationships/notesSlide" Target="/ppt/notesSlides/notesSlide16.xml" Id="R699dd148f73548f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aaf35031f94433d" /><Relationship Type="http://schemas.openxmlformats.org/officeDocument/2006/relationships/notesSlide" Target="/ppt/notesSlides/notesSlide17.xml" Id="Rda0825383f57499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d00e2a0fc5d4843" /><Relationship Type="http://schemas.openxmlformats.org/officeDocument/2006/relationships/notesSlide" Target="/ppt/notesSlides/notesSlide18.xml" Id="R6a58a5a980f9482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1bd7cb379964511" /><Relationship Type="http://schemas.openxmlformats.org/officeDocument/2006/relationships/notesSlide" Target="/ppt/notesSlides/notesSlide19.xml" Id="Red5f8a6445f5430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6caeb879f644034" /><Relationship Type="http://schemas.openxmlformats.org/officeDocument/2006/relationships/notesSlide" Target="/ppt/notesSlides/notesSlide20.xml" Id="Ra4eda6a9b1e4418a" /></Relationships>
</file>

<file path=ppt/slides/slide1.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0A545E-DA16-4E58-A5CD-4FA35CA20F78}"/>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61E8FCF9-A000-41AE-9F4C-6B1B7BAA4E16}"/>
              </a:ext>
            </a:extLst>
          </p:cNvPr>
          <p:cNvSpPr>
            <a:spLocks xmlns:a="http://schemas.openxmlformats.org/drawingml/2006/main" noGrp="1"/>
          </p:cNvSpPr>
          <p:nvPr/>
        </p:nvSpPr>
        <p:spPr>
          <a:xfrm xmlns:a="http://schemas.openxmlformats.org/drawingml/2006/main">
            <a:off x="1524000" y="2667000"/>
            <a:ext cx="213360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200" b="1">
                <a:solidFill>
                  <a:srgbClr val="C4C898"/>
                </a:solidFill>
                <a:latin typeface="Arial"/>
                <a:ea typeface="Arial"/>
                <a:cs typeface="Arial"/>
              </a:defRPr>
            </a:pPr>
            <a:r>
              <a:rPr sz="10200" b="1">
                <a:solidFill>
                  <a:srgbClr val="C4C898"/>
                </a:solidFill>
                <a:latin typeface="Arial"/>
                <a:ea typeface="Arial"/>
                <a:cs typeface="Arial"/>
              </a:rPr>
              <a:t>NFTs, Blockchain,</a:t>
            </a:r>
          </a:p>
          <a:p xmlns:a="http://schemas.openxmlformats.org/drawingml/2006/main">
            <a:pPr algn="l">
              <a:defRPr sz="10200" b="1">
                <a:solidFill>
                  <a:srgbClr val="C4C898"/>
                </a:solidFill>
                <a:latin typeface="Arial"/>
                <a:ea typeface="Arial"/>
                <a:cs typeface="Arial"/>
              </a:defRPr>
            </a:pPr>
            <a:r>
              <a:rPr sz="10200" b="1">
                <a:solidFill>
                  <a:srgbClr val="C4C898"/>
                </a:solidFill>
                <a:latin typeface="Arial"/>
                <a:ea typeface="Arial"/>
                <a:cs typeface="Arial"/>
              </a:rPr>
              <a:t>and Ethereum</a:t>
            </a:r>
          </a:p>
        </p:txBody>
      </p:sp>
      <p:sp>
        <p:nvSpPr>
          <p:cNvPr id="3" name="">
            <a:extLst xmlns:a="http://schemas.openxmlformats.org/drawingml/2006/main">
              <a:ext uri="{FF2B5EF4-FFF2-40B4-BE49-F238E27FC236}">
                <a16:creationId xmlns:a16="http://schemas.microsoft.com/office/drawing/2014/main" id="{F61DEFBA-9BE6-4636-900D-C06FE326C14E}"/>
              </a:ext>
            </a:extLst>
          </p:cNvPr>
          <p:cNvSpPr>
            <a:spLocks xmlns:a="http://schemas.openxmlformats.org/drawingml/2006/main" noGrp="1"/>
          </p:cNvSpPr>
          <p:nvPr/>
        </p:nvSpPr>
        <p:spPr>
          <a:xfrm xmlns:a="http://schemas.openxmlformats.org/drawingml/2006/main">
            <a:off x="1524000" y="6858000"/>
            <a:ext cx="19812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0">
                <a:solidFill>
                  <a:srgbClr val="EEECE3"/>
                </a:solidFill>
                <a:latin typeface="Arial"/>
                <a:ea typeface="Arial"/>
                <a:cs typeface="Arial"/>
              </a:defRPr>
            </a:pPr>
            <a:r>
              <a:rPr sz="4800" b="0">
                <a:solidFill>
                  <a:srgbClr val="EEECE3"/>
                </a:solidFill>
                <a:latin typeface="Arial"/>
                <a:ea typeface="Arial"/>
                <a:cs typeface="Arial"/>
              </a:rPr>
              <a:t>Learn the rules and the basics so you can think beyond them</a:t>
            </a:r>
          </a:p>
        </p:txBody>
      </p:sp>
      <p:sp>
        <p:nvSpPr>
          <p:cNvPr id="4" name="">
            <a:extLst xmlns:a="http://schemas.openxmlformats.org/drawingml/2006/main">
              <a:ext uri="{FF2B5EF4-FFF2-40B4-BE49-F238E27FC236}">
                <a16:creationId xmlns:a16="http://schemas.microsoft.com/office/drawing/2014/main" id="{1AC6DF14-9D42-4B65-ADF4-40B18AAB3E1A}"/>
              </a:ext>
            </a:extLst>
          </p:cNvPr>
          <p:cNvSpPr>
            <a:spLocks xmlns:a="http://schemas.openxmlformats.org/drawingml/2006/main" noGrp="1"/>
          </p:cNvSpPr>
          <p:nvPr/>
        </p:nvSpPr>
        <p:spPr>
          <a:xfrm xmlns:a="http://schemas.openxmlformats.org/drawingml/2006/main">
            <a:off x="1524000" y="9906000"/>
            <a:ext cx="1905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EEECE3"/>
                </a:solidFill>
                <a:latin typeface="Arial"/>
                <a:ea typeface="Arial"/>
                <a:cs typeface="Arial"/>
              </a:defRPr>
            </a:pPr>
            <a:r>
              <a:rPr sz="3750" b="0">
                <a:solidFill>
                  <a:srgbClr val="EEECE3"/>
                </a:solidFill>
                <a:latin typeface="Arial"/>
                <a:ea typeface="Arial"/>
                <a:cs typeface="Arial"/>
              </a:rPr>
              <a:t>Delaney Mills / Teara Glass</a:t>
            </a:r>
          </a:p>
        </p:txBody>
      </p:sp>
      <p:sp>
        <p:nvSpPr>
          <p:cNvPr id="5" name="">
            <a:extLst xmlns:a="http://schemas.openxmlformats.org/drawingml/2006/main">
              <a:ext uri="{FF2B5EF4-FFF2-40B4-BE49-F238E27FC236}">
                <a16:creationId xmlns:a16="http://schemas.microsoft.com/office/drawing/2014/main" id="{FCCBC9D3-8682-4CFA-89F2-F91562AE405D}"/>
              </a:ext>
            </a:extLst>
          </p:cNvPr>
          <p:cNvSpPr>
            <a:spLocks xmlns:a="http://schemas.openxmlformats.org/drawingml/2006/main" noGrp="1"/>
          </p:cNvSpPr>
          <p:nvPr/>
        </p:nvSpPr>
        <p:spPr>
          <a:xfrm xmlns:a="http://schemas.openxmlformats.org/drawingml/2006/main">
            <a:off x="1524000" y="11087100"/>
            <a:ext cx="19812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0">
                <a:solidFill>
                  <a:srgbClr val="BBBEB1"/>
                </a:solidFill>
                <a:latin typeface="Arial"/>
                <a:ea typeface="Arial"/>
                <a:cs typeface="Arial"/>
              </a:defRPr>
            </a:pPr>
            <a:r>
              <a:rPr sz="3300" b="0">
                <a:solidFill>
                  <a:srgbClr val="BBBEB1"/>
                </a:solidFill>
                <a:latin typeface="Arial"/>
                <a:ea typeface="Arial"/>
                <a:cs typeface="Arial"/>
              </a:rPr>
              <a:t>Revised edition, September 2026</a:t>
            </a:r>
          </a:p>
          <a:p xmlns:a="http://schemas.openxmlformats.org/drawingml/2006/main">
            <a:pPr algn="l">
              <a:defRPr sz="3300" b="0">
                <a:solidFill>
                  <a:srgbClr val="BBBEB1"/>
                </a:solidFill>
                <a:latin typeface="Arial"/>
                <a:ea typeface="Arial"/>
                <a:cs typeface="Arial"/>
              </a:defRPr>
            </a:pPr>
            <a:r>
              <a:rPr sz="3300" b="0">
                <a:solidFill>
                  <a:srgbClr val="BBBEB1"/>
                </a:solidFill>
                <a:latin typeface="Arial"/>
                <a:ea typeface="Arial"/>
                <a:cs typeface="Arial"/>
              </a:rPr>
              <a:t>Based on the April 2022 workshop</a:t>
            </a:r>
          </a:p>
        </p:txBody>
      </p:sp>
    </p:spTree>
    <p:extLst>
      <p:ext uri="{BB962C8B-B14F-4D97-AF65-F5344CB8AC3E}">
        <p14:creationId xmlns:p14="http://schemas.microsoft.com/office/powerpoint/2010/main" val="2045548944"/>
      </p:ext>
    </p:extLst>
  </p:cSld>
</p:sld>
</file>

<file path=ppt/slides/slide2.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FD6006-9037-42A6-BA3E-03265E633ADB}"/>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Why are you here?</a:t>
            </a:r>
          </a:p>
        </p:txBody>
      </p:sp>
      <p:sp>
        <p:nvSpPr>
          <p:cNvPr id="2" name="">
            <a:extLst xmlns:a="http://schemas.openxmlformats.org/drawingml/2006/main">
              <a:ext uri="{FF2B5EF4-FFF2-40B4-BE49-F238E27FC236}">
                <a16:creationId xmlns:a16="http://schemas.microsoft.com/office/drawing/2014/main" id="{16540EE1-DB60-42D8-91C5-9DE6E6AC4025}"/>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0A370571-F145-4CA6-8F99-4D90196AD00F}"/>
              </a:ext>
            </a:extLst>
          </p:cNvPr>
          <p:cNvSpPr>
            <a:spLocks xmlns:a="http://schemas.openxmlformats.org/drawingml/2006/main" noGrp="1"/>
          </p:cNvSpPr>
          <p:nvPr/>
        </p:nvSpPr>
        <p:spPr>
          <a:xfrm xmlns:a="http://schemas.openxmlformats.org/drawingml/2006/main">
            <a:off x="1524000" y="3714750"/>
            <a:ext cx="20193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900" b="0">
                <a:solidFill>
                  <a:srgbClr val="EEECE3"/>
                </a:solidFill>
                <a:latin typeface="Arial"/>
                <a:ea typeface="Arial"/>
                <a:cs typeface="Arial"/>
              </a:defRPr>
            </a:pPr>
            <a:r>
              <a:rPr sz="6900" b="0">
                <a:solidFill>
                  <a:srgbClr val="EEECE3"/>
                </a:solidFill>
                <a:latin typeface="Arial"/>
                <a:ea typeface="Arial"/>
                <a:cs typeface="Arial"/>
              </a:rPr>
              <a:t>What would you like to understand or make?</a:t>
            </a:r>
          </a:p>
        </p:txBody>
      </p:sp>
      <p:sp>
        <p:nvSpPr>
          <p:cNvPr id="4" name="">
            <a:extLst xmlns:a="http://schemas.openxmlformats.org/drawingml/2006/main">
              <a:ext uri="{FF2B5EF4-FFF2-40B4-BE49-F238E27FC236}">
                <a16:creationId xmlns:a16="http://schemas.microsoft.com/office/drawing/2014/main" id="{C9FC53F9-60C4-42B5-B987-E8E4BE31B43B}"/>
              </a:ext>
            </a:extLst>
          </p:cNvPr>
          <p:cNvSpPr>
            <a:spLocks xmlns:a="http://schemas.openxmlformats.org/drawingml/2006/main" noGrp="1"/>
          </p:cNvSpPr>
          <p:nvPr/>
        </p:nvSpPr>
        <p:spPr>
          <a:xfrm xmlns:a="http://schemas.openxmlformats.org/drawingml/2006/main">
            <a:off x="1524000" y="6572250"/>
            <a:ext cx="2057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0">
                <a:solidFill>
                  <a:srgbClr val="BBBEB1"/>
                </a:solidFill>
                <a:latin typeface="Arial"/>
                <a:ea typeface="Arial"/>
                <a:cs typeface="Arial"/>
              </a:defRPr>
            </a:pPr>
            <a:r>
              <a:rPr sz="3600" b="0">
                <a:solidFill>
                  <a:srgbClr val="BBBEB1"/>
                </a:solidFill>
                <a:latin typeface="Arial"/>
                <a:ea typeface="Arial"/>
                <a:cs typeface="Arial"/>
              </a:rPr>
              <a:t>By the end, you should be able to:</a:t>
            </a:r>
          </a:p>
        </p:txBody>
      </p:sp>
      <p:sp>
        <p:nvSpPr>
          <p:cNvPr id="5" name="">
            <a:extLst xmlns:a="http://schemas.openxmlformats.org/drawingml/2006/main">
              <a:ext uri="{FF2B5EF4-FFF2-40B4-BE49-F238E27FC236}">
                <a16:creationId xmlns:a16="http://schemas.microsoft.com/office/drawing/2014/main" id="{7977C0A3-B652-495B-9945-B4A5F9462568}"/>
              </a:ext>
            </a:extLst>
          </p:cNvPr>
          <p:cNvSpPr>
            <a:spLocks xmlns:a="http://schemas.openxmlformats.org/drawingml/2006/main" noGrp="1"/>
          </p:cNvSpPr>
          <p:nvPr/>
        </p:nvSpPr>
        <p:spPr>
          <a:xfrm xmlns:a="http://schemas.openxmlformats.org/drawingml/2006/main">
            <a:off x="1524000" y="7715250"/>
            <a:ext cx="20955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406400" indent="-228600" algn="l">
              <a:spcAft>
                <a:spcPts val="1800"/>
              </a:spcAft>
              <a:buChar char="•"/>
              <a:defRPr sz="4500" b="0">
                <a:solidFill>
                  <a:srgbClr val="EEECE3"/>
                </a:solidFill>
                <a:latin typeface="Arial"/>
                <a:ea typeface="Arial"/>
                <a:cs typeface="Arial"/>
              </a:defRPr>
            </a:pPr>
            <a:r>
              <a:t>Explain how a token relates to its artwork and metadata.</a:t>
            </a:r>
          </a:p>
          <a:p xmlns:a="http://schemas.openxmlformats.org/drawingml/2006/main">
            <a:pPr marL="406400" indent="-228600" algn="l">
              <a:spcAft>
                <a:spcPts val="1800"/>
              </a:spcAft>
              <a:buChar char="•"/>
              <a:defRPr sz="4500" b="0">
                <a:solidFill>
                  <a:srgbClr val="EEECE3"/>
                </a:solidFill>
                <a:latin typeface="Arial"/>
                <a:ea typeface="Arial"/>
                <a:cs typeface="Arial"/>
              </a:defRPr>
            </a:pPr>
            <a:r>
              <a:t>Describe what a wallet asks you to authorize.</a:t>
            </a:r>
          </a:p>
          <a:p xmlns:a="http://schemas.openxmlformats.org/drawingml/2006/main">
            <a:pPr marL="406400" indent="-228600" algn="l">
              <a:spcAft>
                <a:spcPts val="1800"/>
              </a:spcAft>
              <a:buChar char="•"/>
              <a:defRPr sz="4500" b="0">
                <a:solidFill>
                  <a:srgbClr val="EEECE3"/>
                </a:solidFill>
                <a:latin typeface="Arial"/>
                <a:ea typeface="Arial"/>
                <a:cs typeface="Arial"/>
              </a:defRPr>
            </a:pPr>
            <a:r>
              <a:t>Separate evidence about a project from its promises.</a:t>
            </a:r>
          </a:p>
        </p:txBody>
      </p:sp>
    </p:spTree>
    <p:extLst>
      <p:ext uri="{BB962C8B-B14F-4D97-AF65-F5344CB8AC3E}">
        <p14:creationId xmlns:p14="http://schemas.microsoft.com/office/powerpoint/2010/main" val="1366637954"/>
      </p:ext>
    </p:extLst>
  </p:cSld>
</p:sld>
</file>

<file path=ppt/slides/slide3.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DEA0F1-5DA5-42BE-8EB0-2D72A4AD4E20}"/>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What is an NFT?</a:t>
            </a:r>
          </a:p>
        </p:txBody>
      </p:sp>
      <p:sp>
        <p:nvSpPr>
          <p:cNvPr id="2" name="">
            <a:extLst xmlns:a="http://schemas.openxmlformats.org/drawingml/2006/main">
              <a:ext uri="{FF2B5EF4-FFF2-40B4-BE49-F238E27FC236}">
                <a16:creationId xmlns:a16="http://schemas.microsoft.com/office/drawing/2014/main" id="{73AD1E75-7FF2-48D5-9548-191D9B4BDDB7}"/>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9F7DF8B7-DB9B-43BA-878A-FEA32C27C1EA}"/>
              </a:ext>
            </a:extLst>
          </p:cNvPr>
          <p:cNvSpPr>
            <a:spLocks xmlns:a="http://schemas.openxmlformats.org/drawingml/2006/main" noGrp="1"/>
          </p:cNvSpPr>
          <p:nvPr/>
        </p:nvSpPr>
        <p:spPr>
          <a:xfrm xmlns:a="http://schemas.openxmlformats.org/drawingml/2006/main">
            <a:off x="1524000" y="3905250"/>
            <a:ext cx="2019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000" b="0">
                <a:solidFill>
                  <a:srgbClr val="EEECE3"/>
                </a:solidFill>
                <a:latin typeface="Arial"/>
                <a:ea typeface="Arial"/>
                <a:cs typeface="Arial"/>
              </a:defRPr>
            </a:pPr>
            <a:r>
              <a:rPr sz="6000" b="0">
                <a:solidFill>
                  <a:srgbClr val="EEECE3"/>
                </a:solidFill>
                <a:latin typeface="Arial"/>
                <a:ea typeface="Arial"/>
                <a:cs typeface="Arial"/>
              </a:rPr>
              <a:t>An NFT is a token that a blockchain can distinguish from other tokens.</a:t>
            </a:r>
          </a:p>
        </p:txBody>
      </p:sp>
      <p:sp>
        <p:nvSpPr>
          <p:cNvPr id="4" name="">
            <a:extLst xmlns:a="http://schemas.openxmlformats.org/drawingml/2006/main">
              <a:ext uri="{FF2B5EF4-FFF2-40B4-BE49-F238E27FC236}">
                <a16:creationId xmlns:a16="http://schemas.microsoft.com/office/drawing/2014/main" id="{323F8D0C-E7CC-4CBC-9B1F-D861A12BC6FD}"/>
              </a:ext>
            </a:extLst>
          </p:cNvPr>
          <p:cNvSpPr>
            <a:spLocks xmlns:a="http://schemas.openxmlformats.org/drawingml/2006/main" noGrp="1"/>
          </p:cNvSpPr>
          <p:nvPr/>
        </p:nvSpPr>
        <p:spPr>
          <a:xfrm xmlns:a="http://schemas.openxmlformats.org/drawingml/2006/main">
            <a:off x="1524000" y="7429500"/>
            <a:ext cx="2019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0">
                <a:solidFill>
                  <a:srgbClr val="EEECE3"/>
                </a:solidFill>
                <a:latin typeface="Arial"/>
                <a:ea typeface="Arial"/>
                <a:cs typeface="Arial"/>
              </a:defRPr>
            </a:pPr>
            <a:r>
              <a:rPr sz="4500" b="0">
                <a:solidFill>
                  <a:srgbClr val="EEECE3"/>
                </a:solidFill>
                <a:latin typeface="Arial"/>
                <a:ea typeface="Arial"/>
                <a:cs typeface="Arial"/>
              </a:rPr>
              <a:t>A project may associate it with an artwork, a membership, or another use.</a:t>
            </a:r>
          </a:p>
        </p:txBody>
      </p:sp>
      <p:sp>
        <p:nvSpPr>
          <p:cNvPr id="5" name="">
            <a:extLst xmlns:a="http://schemas.openxmlformats.org/drawingml/2006/main">
              <a:ext uri="{FF2B5EF4-FFF2-40B4-BE49-F238E27FC236}">
                <a16:creationId xmlns:a16="http://schemas.microsoft.com/office/drawing/2014/main" id="{22A9115F-A0E3-4B64-81C7-4D171AE20717}"/>
              </a:ext>
            </a:extLst>
          </p:cNvPr>
          <p:cNvSpPr>
            <a:spLocks xmlns:a="http://schemas.openxmlformats.org/drawingml/2006/main" noGrp="1"/>
          </p:cNvSpPr>
          <p:nvPr/>
        </p:nvSpPr>
        <p:spPr>
          <a:xfrm xmlns:a="http://schemas.openxmlformats.org/drawingml/2006/main">
            <a:off x="1524000" y="10191750"/>
            <a:ext cx="2019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0">
                <a:solidFill>
                  <a:srgbClr val="C4C898"/>
                </a:solidFill>
                <a:latin typeface="Arial"/>
                <a:ea typeface="Arial"/>
                <a:cs typeface="Arial"/>
              </a:defRPr>
            </a:pPr>
            <a:r>
              <a:rPr sz="4800" b="0">
                <a:solidFill>
                  <a:srgbClr val="C4C898"/>
                </a:solidFill>
                <a:latin typeface="Arial"/>
                <a:ea typeface="Arial"/>
                <a:cs typeface="Arial"/>
              </a:rPr>
              <a:t>The token record and the thing it represents are separate parts of the system.</a:t>
            </a:r>
          </a:p>
        </p:txBody>
      </p:sp>
    </p:spTree>
    <p:extLst>
      <p:ext uri="{BB962C8B-B14F-4D97-AF65-F5344CB8AC3E}">
        <p14:creationId xmlns:p14="http://schemas.microsoft.com/office/powerpoint/2010/main" val="644733981"/>
      </p:ext>
    </p:extLst>
  </p:cSld>
</p:sld>
</file>

<file path=ppt/slides/slide4.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34ACC4-8063-4855-9239-F18365636274}"/>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Wallets and accounts</a:t>
            </a:r>
          </a:p>
        </p:txBody>
      </p:sp>
      <p:sp>
        <p:nvSpPr>
          <p:cNvPr id="2" name="">
            <a:extLst xmlns:a="http://schemas.openxmlformats.org/drawingml/2006/main">
              <a:ext uri="{FF2B5EF4-FFF2-40B4-BE49-F238E27FC236}">
                <a16:creationId xmlns:a16="http://schemas.microsoft.com/office/drawing/2014/main" id="{26F84AFC-863B-4FE6-AD08-88367AF345CA}"/>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799412F-6BD2-4C2E-85B1-9E8090E94903}"/>
              </a:ext>
            </a:extLst>
          </p:cNvPr>
          <p:cNvSpPr>
            <a:spLocks xmlns:a="http://schemas.openxmlformats.org/drawingml/2006/main" noGrp="1"/>
          </p:cNvSpPr>
          <p:nvPr/>
        </p:nvSpPr>
        <p:spPr>
          <a:xfrm xmlns:a="http://schemas.openxmlformats.org/drawingml/2006/main">
            <a:off x="1524000" y="4191000"/>
            <a:ext cx="666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1">
                <a:solidFill>
                  <a:srgbClr val="C4C898"/>
                </a:solidFill>
                <a:latin typeface="Arial"/>
                <a:ea typeface="Arial"/>
                <a:cs typeface="Arial"/>
              </a:defRPr>
            </a:pPr>
            <a:r>
              <a:rPr sz="4800" b="1">
                <a:solidFill>
                  <a:srgbClr val="C4C898"/>
                </a:solidFill>
                <a:latin typeface="Arial"/>
                <a:ea typeface="Arial"/>
                <a:cs typeface="Arial"/>
              </a:rPr>
              <a:t>Address</a:t>
            </a:r>
          </a:p>
        </p:txBody>
      </p:sp>
      <p:sp>
        <p:nvSpPr>
          <p:cNvPr id="4" name="">
            <a:extLst xmlns:a="http://schemas.openxmlformats.org/drawingml/2006/main">
              <a:ext uri="{FF2B5EF4-FFF2-40B4-BE49-F238E27FC236}">
                <a16:creationId xmlns:a16="http://schemas.microsoft.com/office/drawing/2014/main" id="{39C8BF40-7FD9-4CDA-BBAD-9BF4CED6ED1C}"/>
              </a:ext>
            </a:extLst>
          </p:cNvPr>
          <p:cNvSpPr>
            <a:spLocks xmlns:a="http://schemas.openxmlformats.org/drawingml/2006/main" noGrp="1"/>
          </p:cNvSpPr>
          <p:nvPr/>
        </p:nvSpPr>
        <p:spPr>
          <a:xfrm xmlns:a="http://schemas.openxmlformats.org/drawingml/2006/main">
            <a:off x="1524000" y="5829300"/>
            <a:ext cx="6286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rPr>
              <a:t>An address identifies an account.</a:t>
            </a:r>
          </a:p>
        </p:txBody>
      </p:sp>
      <p:sp>
        <p:nvSpPr>
          <p:cNvPr id="5" name="">
            <a:extLst xmlns:a="http://schemas.openxmlformats.org/drawingml/2006/main">
              <a:ext uri="{FF2B5EF4-FFF2-40B4-BE49-F238E27FC236}">
                <a16:creationId xmlns:a16="http://schemas.microsoft.com/office/drawing/2014/main" id="{FA851E80-68DC-4A97-A9FD-1DCFBA58D479}"/>
              </a:ext>
            </a:extLst>
          </p:cNvPr>
          <p:cNvSpPr>
            <a:spLocks xmlns:a="http://schemas.openxmlformats.org/drawingml/2006/main" noGrp="1"/>
          </p:cNvSpPr>
          <p:nvPr/>
        </p:nvSpPr>
        <p:spPr>
          <a:xfrm xmlns:a="http://schemas.openxmlformats.org/drawingml/2006/main">
            <a:off x="8953500" y="4191000"/>
            <a:ext cx="666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1">
                <a:solidFill>
                  <a:srgbClr val="C4C898"/>
                </a:solidFill>
                <a:latin typeface="Arial"/>
                <a:ea typeface="Arial"/>
                <a:cs typeface="Arial"/>
              </a:defRPr>
            </a:pPr>
            <a:r>
              <a:rPr sz="4800" b="1">
                <a:solidFill>
                  <a:srgbClr val="C4C898"/>
                </a:solidFill>
                <a:latin typeface="Arial"/>
                <a:ea typeface="Arial"/>
                <a:cs typeface="Arial"/>
              </a:rPr>
              <a:t>Wallet</a:t>
            </a:r>
          </a:p>
        </p:txBody>
      </p:sp>
      <p:sp>
        <p:nvSpPr>
          <p:cNvPr id="6" name="">
            <a:extLst xmlns:a="http://schemas.openxmlformats.org/drawingml/2006/main">
              <a:ext uri="{FF2B5EF4-FFF2-40B4-BE49-F238E27FC236}">
                <a16:creationId xmlns:a16="http://schemas.microsoft.com/office/drawing/2014/main" id="{BA05DAB5-950F-420A-B42E-3B8D5ECE6028}"/>
              </a:ext>
            </a:extLst>
          </p:cNvPr>
          <p:cNvSpPr>
            <a:spLocks xmlns:a="http://schemas.openxmlformats.org/drawingml/2006/main" noGrp="1"/>
          </p:cNvSpPr>
          <p:nvPr/>
        </p:nvSpPr>
        <p:spPr>
          <a:xfrm xmlns:a="http://schemas.openxmlformats.org/drawingml/2006/main">
            <a:off x="8953500" y="5829300"/>
            <a:ext cx="6286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rPr>
              <a:t>A wallet provides an interface for using accounts.</a:t>
            </a:r>
          </a:p>
        </p:txBody>
      </p:sp>
      <p:sp>
        <p:nvSpPr>
          <p:cNvPr id="7" name="">
            <a:extLst xmlns:a="http://schemas.openxmlformats.org/drawingml/2006/main">
              <a:ext uri="{FF2B5EF4-FFF2-40B4-BE49-F238E27FC236}">
                <a16:creationId xmlns:a16="http://schemas.microsoft.com/office/drawing/2014/main" id="{E5DD3C99-A5DC-485A-A7A4-AA8396906C08}"/>
              </a:ext>
            </a:extLst>
          </p:cNvPr>
          <p:cNvSpPr>
            <a:spLocks xmlns:a="http://schemas.openxmlformats.org/drawingml/2006/main" noGrp="1"/>
          </p:cNvSpPr>
          <p:nvPr/>
        </p:nvSpPr>
        <p:spPr>
          <a:xfrm xmlns:a="http://schemas.openxmlformats.org/drawingml/2006/main">
            <a:off x="16383000" y="4191000"/>
            <a:ext cx="666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1">
                <a:solidFill>
                  <a:srgbClr val="C4C898"/>
                </a:solidFill>
                <a:latin typeface="Arial"/>
                <a:ea typeface="Arial"/>
                <a:cs typeface="Arial"/>
              </a:defRPr>
            </a:pPr>
            <a:r>
              <a:rPr sz="4800" b="1">
                <a:solidFill>
                  <a:srgbClr val="C4C898"/>
                </a:solidFill>
                <a:latin typeface="Arial"/>
                <a:ea typeface="Arial"/>
                <a:cs typeface="Arial"/>
              </a:rPr>
              <a:t>Authorization</a:t>
            </a:r>
          </a:p>
        </p:txBody>
      </p:sp>
      <p:sp>
        <p:nvSpPr>
          <p:cNvPr id="8" name="">
            <a:extLst xmlns:a="http://schemas.openxmlformats.org/drawingml/2006/main">
              <a:ext uri="{FF2B5EF4-FFF2-40B4-BE49-F238E27FC236}">
                <a16:creationId xmlns:a16="http://schemas.microsoft.com/office/drawing/2014/main" id="{1E0D7CFB-E9DE-46F3-8B61-177FD5236645}"/>
              </a:ext>
            </a:extLst>
          </p:cNvPr>
          <p:cNvSpPr>
            <a:spLocks xmlns:a="http://schemas.openxmlformats.org/drawingml/2006/main" noGrp="1"/>
          </p:cNvSpPr>
          <p:nvPr/>
        </p:nvSpPr>
        <p:spPr>
          <a:xfrm xmlns:a="http://schemas.openxmlformats.org/drawingml/2006/main">
            <a:off x="16383000" y="5829300"/>
            <a:ext cx="6286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rPr>
              <a:t>Authorization lets the account take an action.</a:t>
            </a:r>
          </a:p>
        </p:txBody>
      </p:sp>
      <p:sp>
        <p:nvSpPr>
          <p:cNvPr id="9" name="">
            <a:extLst xmlns:a="http://schemas.openxmlformats.org/drawingml/2006/main">
              <a:ext uri="{FF2B5EF4-FFF2-40B4-BE49-F238E27FC236}">
                <a16:creationId xmlns:a16="http://schemas.microsoft.com/office/drawing/2014/main" id="{AA626877-A8A2-4888-93DE-EE25546D7D7A}"/>
              </a:ext>
            </a:extLst>
          </p:cNvPr>
          <p:cNvSpPr>
            <a:spLocks xmlns:a="http://schemas.openxmlformats.org/drawingml/2006/main" noGrp="1"/>
          </p:cNvSpPr>
          <p:nvPr/>
        </p:nvSpPr>
        <p:spPr>
          <a:xfrm xmlns:a="http://schemas.openxmlformats.org/drawingml/2006/main">
            <a:off x="1524000" y="10477500"/>
            <a:ext cx="20955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0">
                <a:solidFill>
                  <a:srgbClr val="EEECE3"/>
                </a:solidFill>
                <a:latin typeface="Arial"/>
                <a:ea typeface="Arial"/>
                <a:cs typeface="Arial"/>
              </a:defRPr>
            </a:pPr>
            <a:r>
              <a:rPr sz="4800" b="0">
                <a:solidFill>
                  <a:srgbClr val="EEECE3"/>
                </a:solidFill>
                <a:latin typeface="Arial"/>
                <a:ea typeface="Arial"/>
                <a:cs typeface="Arial"/>
              </a:rPr>
              <a:t>Recovery details and private keys must stay private.</a:t>
            </a:r>
          </a:p>
        </p:txBody>
      </p:sp>
    </p:spTree>
    <p:extLst>
      <p:ext uri="{BB962C8B-B14F-4D97-AF65-F5344CB8AC3E}">
        <p14:creationId xmlns:p14="http://schemas.microsoft.com/office/powerpoint/2010/main" val="824064139"/>
      </p:ext>
    </p:extLst>
  </p:cSld>
</p:sld>
</file>

<file path=ppt/slides/slide5.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AC0B2C-2599-4BE3-B199-0449905DB538}"/>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What does the blockchain record?</a:t>
            </a:r>
          </a:p>
        </p:txBody>
      </p:sp>
      <p:sp>
        <p:nvSpPr>
          <p:cNvPr id="2" name="">
            <a:extLst xmlns:a="http://schemas.openxmlformats.org/drawingml/2006/main">
              <a:ext uri="{FF2B5EF4-FFF2-40B4-BE49-F238E27FC236}">
                <a16:creationId xmlns:a16="http://schemas.microsoft.com/office/drawing/2014/main" id="{A3450A82-B3D3-48D7-B874-875CABB38912}"/>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CE03B874-0000-444D-8FAD-024FE18E420D}"/>
              </a:ext>
            </a:extLst>
          </p:cNvPr>
          <p:cNvSpPr>
            <a:spLocks xmlns:a="http://schemas.openxmlformats.org/drawingml/2006/main" noGrp="1"/>
          </p:cNvSpPr>
          <p:nvPr/>
        </p:nvSpPr>
        <p:spPr>
          <a:xfrm xmlns:a="http://schemas.openxmlformats.org/drawingml/2006/main">
            <a:off x="1524000" y="3810000"/>
            <a:ext cx="20955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100" b="0">
                <a:solidFill>
                  <a:srgbClr val="EEECE3"/>
                </a:solidFill>
                <a:latin typeface="Arial"/>
                <a:ea typeface="Arial"/>
                <a:cs typeface="Arial"/>
              </a:defRPr>
            </a:pPr>
            <a:r>
              <a:rPr sz="5100" b="0">
                <a:solidFill>
                  <a:srgbClr val="EEECE3"/>
                </a:solidFill>
                <a:latin typeface="Arial"/>
                <a:ea typeface="Arial"/>
                <a:cs typeface="Arial"/>
              </a:rPr>
              <a:t>Ethereum maintains shared records that network participants check against protocol rules.</a:t>
            </a:r>
          </a:p>
        </p:txBody>
      </p:sp>
      <p:sp>
        <p:nvSpPr>
          <p:cNvPr id="4" name="">
            <a:extLst xmlns:a="http://schemas.openxmlformats.org/drawingml/2006/main">
              <a:ext uri="{FF2B5EF4-FFF2-40B4-BE49-F238E27FC236}">
                <a16:creationId xmlns:a16="http://schemas.microsoft.com/office/drawing/2014/main" id="{CA77F1FA-3AE8-4AF0-96A5-3407D42DEA7A}"/>
              </a:ext>
            </a:extLst>
          </p:cNvPr>
          <p:cNvSpPr>
            <a:spLocks xmlns:a="http://schemas.openxmlformats.org/drawingml/2006/main" noGrp="1"/>
          </p:cNvSpPr>
          <p:nvPr/>
        </p:nvSpPr>
        <p:spPr>
          <a:xfrm xmlns:a="http://schemas.openxmlformats.org/drawingml/2006/main">
            <a:off x="1524000" y="6953250"/>
            <a:ext cx="20955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100" b="0">
                <a:solidFill>
                  <a:srgbClr val="EEECE3"/>
                </a:solidFill>
                <a:latin typeface="Arial"/>
                <a:ea typeface="Arial"/>
                <a:cs typeface="Arial"/>
              </a:defRPr>
            </a:pPr>
            <a:r>
              <a:rPr sz="5100" b="0">
                <a:solidFill>
                  <a:srgbClr val="EEECE3"/>
                </a:solidFill>
                <a:latin typeface="Arial"/>
                <a:ea typeface="Arial"/>
                <a:cs typeface="Arial"/>
              </a:rPr>
              <a:t>For an NFT, those records can include its creation, transfers, and current owner account.</a:t>
            </a:r>
          </a:p>
        </p:txBody>
      </p:sp>
      <p:sp>
        <p:nvSpPr>
          <p:cNvPr id="5" name="">
            <a:extLst xmlns:a="http://schemas.openxmlformats.org/drawingml/2006/main">
              <a:ext uri="{FF2B5EF4-FFF2-40B4-BE49-F238E27FC236}">
                <a16:creationId xmlns:a16="http://schemas.microsoft.com/office/drawing/2014/main" id="{AECC7C17-BEC3-4E9F-81C7-330AE4D6599A}"/>
              </a:ext>
            </a:extLst>
          </p:cNvPr>
          <p:cNvSpPr>
            <a:spLocks xmlns:a="http://schemas.openxmlformats.org/drawingml/2006/main" noGrp="1"/>
          </p:cNvSpPr>
          <p:nvPr/>
        </p:nvSpPr>
        <p:spPr>
          <a:xfrm xmlns:a="http://schemas.openxmlformats.org/drawingml/2006/main">
            <a:off x="1524000" y="10477500"/>
            <a:ext cx="2095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0">
                <a:solidFill>
                  <a:srgbClr val="C4C898"/>
                </a:solidFill>
                <a:latin typeface="Arial"/>
                <a:ea typeface="Arial"/>
                <a:cs typeface="Arial"/>
              </a:defRPr>
            </a:pPr>
            <a:r>
              <a:rPr sz="4500" b="0">
                <a:solidFill>
                  <a:srgbClr val="C4C898"/>
                </a:solidFill>
                <a:latin typeface="Arial"/>
                <a:ea typeface="Arial"/>
                <a:cs typeface="Arial"/>
              </a:rPr>
              <a:t>An explorer makes those records easier to inspect.</a:t>
            </a:r>
          </a:p>
        </p:txBody>
      </p:sp>
    </p:spTree>
    <p:extLst>
      <p:ext uri="{BB962C8B-B14F-4D97-AF65-F5344CB8AC3E}">
        <p14:creationId xmlns:p14="http://schemas.microsoft.com/office/powerpoint/2010/main" val="1735905247"/>
      </p:ext>
    </p:extLst>
  </p:cSld>
</p:sld>
</file>

<file path=ppt/slides/slide6.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C710960-BF4C-4BE2-BA56-C4593171A849}"/>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Smart contracts</a:t>
            </a:r>
          </a:p>
        </p:txBody>
      </p:sp>
      <p:sp>
        <p:nvSpPr>
          <p:cNvPr id="2" name="">
            <a:extLst xmlns:a="http://schemas.openxmlformats.org/drawingml/2006/main">
              <a:ext uri="{FF2B5EF4-FFF2-40B4-BE49-F238E27FC236}">
                <a16:creationId xmlns:a16="http://schemas.microsoft.com/office/drawing/2014/main" id="{93673228-38B2-4BB4-8AA4-959D8890B6F8}"/>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525D8D0-DB71-443F-ACB3-1D5CA1D410F8}"/>
              </a:ext>
            </a:extLst>
          </p:cNvPr>
          <p:cNvSpPr>
            <a:spLocks xmlns:a="http://schemas.openxmlformats.org/drawingml/2006/main" noGrp="1"/>
          </p:cNvSpPr>
          <p:nvPr/>
        </p:nvSpPr>
        <p:spPr>
          <a:xfrm xmlns:a="http://schemas.openxmlformats.org/drawingml/2006/main">
            <a:off x="1524000" y="3619500"/>
            <a:ext cx="2095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250" b="0">
                <a:solidFill>
                  <a:srgbClr val="EEECE3"/>
                </a:solidFill>
                <a:latin typeface="Arial"/>
                <a:ea typeface="Arial"/>
                <a:cs typeface="Arial"/>
              </a:defRPr>
            </a:pPr>
            <a:r>
              <a:rPr sz="5250" b="0">
                <a:solidFill>
                  <a:srgbClr val="EEECE3"/>
                </a:solidFill>
                <a:latin typeface="Arial"/>
                <a:ea typeface="Arial"/>
                <a:cs typeface="Arial"/>
              </a:rPr>
              <a:t>A smart contract is a program on the blockchain.</a:t>
            </a:r>
          </a:p>
        </p:txBody>
      </p:sp>
      <p:sp>
        <p:nvSpPr>
          <p:cNvPr id="4" name="">
            <a:extLst xmlns:a="http://schemas.openxmlformats.org/drawingml/2006/main">
              <a:ext uri="{FF2B5EF4-FFF2-40B4-BE49-F238E27FC236}">
                <a16:creationId xmlns:a16="http://schemas.microsoft.com/office/drawing/2014/main" id="{B23135EC-3E76-4848-A331-AA92CBB59AEF}"/>
              </a:ext>
            </a:extLst>
          </p:cNvPr>
          <p:cNvSpPr>
            <a:spLocks xmlns:a="http://schemas.openxmlformats.org/drawingml/2006/main" noGrp="1"/>
          </p:cNvSpPr>
          <p:nvPr/>
        </p:nvSpPr>
        <p:spPr>
          <a:xfrm xmlns:a="http://schemas.openxmlformats.org/drawingml/2006/main">
            <a:off x="1524000" y="6000750"/>
            <a:ext cx="4953000" cy="1257300"/>
          </a:xfrm>
          <a:prstGeom xmlns:a="http://schemas.openxmlformats.org/drawingml/2006/main" prst="rect">
            <a:avLst/>
          </a:prstGeom>
          <a:solidFill xmlns:a="http://schemas.openxmlformats.org/drawingml/2006/main">
            <a:srgbClr val="10110F"/>
          </a:solidFill>
          <a:ln xmlns:a="http://schemas.openxmlformats.org/drawingml/2006/main" w="19050">
            <a:solidFill>
              <a:srgbClr val="666A57"/>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EEECE3"/>
                </a:solidFill>
                <a:latin typeface="Arial"/>
                <a:ea typeface="Arial"/>
                <a:cs typeface="Arial"/>
              </a:defRPr>
            </a:pPr>
            <a:r>
              <a:rPr sz="3750">
                <a:solidFill>
                  <a:srgbClr val="EEECE3"/>
                </a:solidFill>
                <a:latin typeface="Arial"/>
                <a:ea typeface="Arial"/>
                <a:cs typeface="Arial"/>
              </a:rPr>
              <a:t>Person</a:t>
            </a:r>
          </a:p>
        </p:txBody>
      </p:sp>
      <p:sp>
        <p:nvSpPr>
          <p:cNvPr id="5" name="">
            <a:extLst xmlns:a="http://schemas.openxmlformats.org/drawingml/2006/main">
              <a:ext uri="{FF2B5EF4-FFF2-40B4-BE49-F238E27FC236}">
                <a16:creationId xmlns:a16="http://schemas.microsoft.com/office/drawing/2014/main" id="{B7721E1D-05E6-4507-B28C-46394AFB692F}"/>
              </a:ext>
            </a:extLst>
          </p:cNvPr>
          <p:cNvSpPr>
            <a:spLocks xmlns:a="http://schemas.openxmlformats.org/drawingml/2006/main" noGrp="1"/>
          </p:cNvSpPr>
          <p:nvPr/>
        </p:nvSpPr>
        <p:spPr>
          <a:xfrm xmlns:a="http://schemas.openxmlformats.org/drawingml/2006/main">
            <a:off x="9239250" y="6000750"/>
            <a:ext cx="5905500" cy="1257300"/>
          </a:xfrm>
          <a:prstGeom xmlns:a="http://schemas.openxmlformats.org/drawingml/2006/main" prst="rect">
            <a:avLst/>
          </a:prstGeom>
          <a:solidFill xmlns:a="http://schemas.openxmlformats.org/drawingml/2006/main">
            <a:srgbClr val="10110F"/>
          </a:solidFill>
          <a:ln xmlns:a="http://schemas.openxmlformats.org/drawingml/2006/main" w="19050">
            <a:solidFill>
              <a:srgbClr val="666A57"/>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EEECE3"/>
                </a:solidFill>
                <a:latin typeface="Arial"/>
                <a:ea typeface="Arial"/>
                <a:cs typeface="Arial"/>
              </a:defRPr>
            </a:pPr>
            <a:r>
              <a:rPr sz="3750">
                <a:solidFill>
                  <a:srgbClr val="EEECE3"/>
                </a:solidFill>
                <a:latin typeface="Arial"/>
                <a:ea typeface="Arial"/>
                <a:cs typeface="Arial"/>
              </a:rPr>
              <a:t>Website / wallet</a:t>
            </a:r>
          </a:p>
        </p:txBody>
      </p:sp>
      <p:sp>
        <p:nvSpPr>
          <p:cNvPr id="6" name="">
            <a:extLst xmlns:a="http://schemas.openxmlformats.org/drawingml/2006/main">
              <a:ext uri="{FF2B5EF4-FFF2-40B4-BE49-F238E27FC236}">
                <a16:creationId xmlns:a16="http://schemas.microsoft.com/office/drawing/2014/main" id="{25513C0C-9344-46FD-B26E-4AC8500C4618}"/>
              </a:ext>
            </a:extLst>
          </p:cNvPr>
          <p:cNvSpPr>
            <a:spLocks xmlns:a="http://schemas.openxmlformats.org/drawingml/2006/main" noGrp="1"/>
          </p:cNvSpPr>
          <p:nvPr/>
        </p:nvSpPr>
        <p:spPr>
          <a:xfrm xmlns:a="http://schemas.openxmlformats.org/drawingml/2006/main">
            <a:off x="17907000" y="6000750"/>
            <a:ext cx="4953000" cy="1257300"/>
          </a:xfrm>
          <a:prstGeom xmlns:a="http://schemas.openxmlformats.org/drawingml/2006/main" prst="rect">
            <a:avLst/>
          </a:prstGeom>
          <a:solidFill xmlns:a="http://schemas.openxmlformats.org/drawingml/2006/main">
            <a:srgbClr val="10110F"/>
          </a:solidFill>
          <a:ln xmlns:a="http://schemas.openxmlformats.org/drawingml/2006/main" w="19050">
            <a:solidFill>
              <a:srgbClr val="C4C898"/>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C4C898"/>
                </a:solidFill>
                <a:latin typeface="Arial"/>
                <a:ea typeface="Arial"/>
                <a:cs typeface="Arial"/>
              </a:defRPr>
            </a:pPr>
            <a:r>
              <a:rPr sz="3750">
                <a:solidFill>
                  <a:srgbClr val="C4C898"/>
                </a:solidFill>
                <a:latin typeface="Arial"/>
                <a:ea typeface="Arial"/>
                <a:cs typeface="Arial"/>
              </a:rPr>
              <a:t>Contract</a:t>
            </a:r>
          </a:p>
        </p:txBody>
      </p: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6477000" y="6629400"/>
            <a:ext cx="2762250" cy="0"/>
          </a:xfrm>
          <a:prstGeom xmlns:a="http://schemas.openxmlformats.org/drawingml/2006/main" prst="straightConnector1">
            <a:avLst/>
          </a:prstGeom>
          <a:ln xmlns:a="http://schemas.openxmlformats.org/drawingml/2006/main" w="28575">
            <a:solidFill>
              <a:srgbClr val="666A57"/>
            </a:solidFill>
            <a:tailEnd type="triangle" w="med" len="med"/>
          </a:ln>
        </p:spPr>
      </p:cxnSp>
      <p:cxnSp>
        <p:nvCxnSpPr>
          <p:cNvPr id="18" name=""/>
          <p:cNvCxnSpPr>
            <a:stCxn xmlns:a="http://schemas.openxmlformats.org/drawingml/2006/main" id="5" idx="3"/>
            <a:endCxn xmlns:a="http://schemas.openxmlformats.org/drawingml/2006/main" id="6" idx="1"/>
          </p:cNvCxnSpPr>
          <p:nvPr/>
        </p:nvCxnSpPr>
        <p:spPr>
          <a:xfrm xmlns:a="http://schemas.openxmlformats.org/drawingml/2006/main">
            <a:off x="15144750" y="6629400"/>
            <a:ext cx="2762250" cy="0"/>
          </a:xfrm>
          <a:prstGeom xmlns:a="http://schemas.openxmlformats.org/drawingml/2006/main" prst="straightConnector1">
            <a:avLst/>
          </a:prstGeom>
          <a:ln xmlns:a="http://schemas.openxmlformats.org/drawingml/2006/main" w="28575">
            <a:solidFill>
              <a:srgbClr val="666A57"/>
            </a:solidFill>
            <a:tailEnd type="triangle" w="med" len="med"/>
          </a:ln>
        </p:spPr>
      </p:cxnSp>
      <p:sp>
        <p:nvSpPr>
          <p:cNvPr id="9" name="">
            <a:extLst xmlns:a="http://schemas.openxmlformats.org/drawingml/2006/main">
              <a:ext uri="{FF2B5EF4-FFF2-40B4-BE49-F238E27FC236}">
                <a16:creationId xmlns:a16="http://schemas.microsoft.com/office/drawing/2014/main" id="{8E0D3A06-E250-48AB-8E27-CBD6D2AEF719}"/>
              </a:ext>
            </a:extLst>
          </p:cNvPr>
          <p:cNvSpPr>
            <a:spLocks xmlns:a="http://schemas.openxmlformats.org/drawingml/2006/main" noGrp="1"/>
          </p:cNvSpPr>
          <p:nvPr/>
        </p:nvSpPr>
        <p:spPr>
          <a:xfrm xmlns:a="http://schemas.openxmlformats.org/drawingml/2006/main">
            <a:off x="1524000" y="8477250"/>
            <a:ext cx="2095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0">
                <a:solidFill>
                  <a:srgbClr val="EEECE3"/>
                </a:solidFill>
                <a:latin typeface="Arial"/>
                <a:ea typeface="Arial"/>
                <a:cs typeface="Arial"/>
              </a:defRPr>
            </a:pPr>
            <a:r>
              <a:rPr sz="4650" b="0">
                <a:solidFill>
                  <a:srgbClr val="EEECE3"/>
                </a:solidFill>
                <a:latin typeface="Arial"/>
                <a:ea typeface="Arial"/>
                <a:cs typeface="Arial"/>
              </a:rPr>
              <a:t>Its code can define who may mint, transfer, or change parts of a collection.</a:t>
            </a:r>
          </a:p>
        </p:txBody>
      </p:sp>
      <p:sp>
        <p:nvSpPr>
          <p:cNvPr id="10" name="">
            <a:extLst xmlns:a="http://schemas.openxmlformats.org/drawingml/2006/main">
              <a:ext uri="{FF2B5EF4-FFF2-40B4-BE49-F238E27FC236}">
                <a16:creationId xmlns:a16="http://schemas.microsoft.com/office/drawing/2014/main" id="{85518037-AE8F-46C4-82F3-17C05BD2813D}"/>
              </a:ext>
            </a:extLst>
          </p:cNvPr>
          <p:cNvSpPr>
            <a:spLocks xmlns:a="http://schemas.openxmlformats.org/drawingml/2006/main" noGrp="1"/>
          </p:cNvSpPr>
          <p:nvPr/>
        </p:nvSpPr>
        <p:spPr>
          <a:xfrm xmlns:a="http://schemas.openxmlformats.org/drawingml/2006/main">
            <a:off x="1524000" y="10858500"/>
            <a:ext cx="20955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0">
                <a:solidFill>
                  <a:srgbClr val="BBBEB1"/>
                </a:solidFill>
                <a:latin typeface="Arial"/>
                <a:ea typeface="Arial"/>
                <a:cs typeface="Arial"/>
              </a:defRPr>
            </a:pPr>
            <a:r>
              <a:rPr sz="4350" b="0">
                <a:solidFill>
                  <a:srgbClr val="BBBEB1"/>
                </a:solidFill>
                <a:latin typeface="Arial"/>
                <a:ea typeface="Arial"/>
                <a:cs typeface="Arial"/>
              </a:rPr>
              <a:t>The project's website is one interface to those rules.</a:t>
            </a:r>
          </a:p>
        </p:txBody>
      </p:sp>
    </p:spTree>
    <p:extLst>
      <p:ext uri="{BB962C8B-B14F-4D97-AF65-F5344CB8AC3E}">
        <p14:creationId xmlns:p14="http://schemas.microsoft.com/office/powerpoint/2010/main" val="125573026"/>
      </p:ext>
    </p:extLst>
  </p:cSld>
</p:sld>
</file>

<file path=ppt/slides/slide7.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287E36-A165-4F87-86EF-09DE846A05FB}"/>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Minting and transferring</a:t>
            </a:r>
          </a:p>
        </p:txBody>
      </p:sp>
      <p:sp>
        <p:nvSpPr>
          <p:cNvPr id="2" name="">
            <a:extLst xmlns:a="http://schemas.openxmlformats.org/drawingml/2006/main">
              <a:ext uri="{FF2B5EF4-FFF2-40B4-BE49-F238E27FC236}">
                <a16:creationId xmlns:a16="http://schemas.microsoft.com/office/drawing/2014/main" id="{0652A878-A8C5-4BC5-8B73-61766D8778C8}"/>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099F4F0-EA80-4E27-B61D-6FE8F6A96851}"/>
              </a:ext>
            </a:extLst>
          </p:cNvPr>
          <p:cNvSpPr>
            <a:spLocks xmlns:a="http://schemas.openxmlformats.org/drawingml/2006/main" noGrp="1"/>
          </p:cNvSpPr>
          <p:nvPr/>
        </p:nvSpPr>
        <p:spPr>
          <a:xfrm xmlns:a="http://schemas.openxmlformats.org/drawingml/2006/main">
            <a:off x="1524000" y="3714750"/>
            <a:ext cx="9525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0">
                <a:solidFill>
                  <a:srgbClr val="EEECE3"/>
                </a:solidFill>
                <a:latin typeface="Arial"/>
                <a:ea typeface="Arial"/>
                <a:cs typeface="Arial"/>
              </a:defRPr>
            </a:pPr>
            <a:r>
              <a:rPr sz="4800" b="0">
                <a:solidFill>
                  <a:srgbClr val="EEECE3"/>
                </a:solidFill>
                <a:latin typeface="Arial"/>
                <a:ea typeface="Arial"/>
                <a:cs typeface="Arial"/>
              </a:rPr>
              <a:t>Minting creates a token in the collection's records.</a:t>
            </a:r>
          </a:p>
        </p:txBody>
      </p:sp>
      <p:sp>
        <p:nvSpPr>
          <p:cNvPr id="4" name="">
            <a:extLst xmlns:a="http://schemas.openxmlformats.org/drawingml/2006/main">
              <a:ext uri="{FF2B5EF4-FFF2-40B4-BE49-F238E27FC236}">
                <a16:creationId xmlns:a16="http://schemas.microsoft.com/office/drawing/2014/main" id="{513F506C-B369-4E63-8143-D7C63C65147E}"/>
              </a:ext>
            </a:extLst>
          </p:cNvPr>
          <p:cNvSpPr>
            <a:spLocks xmlns:a="http://schemas.openxmlformats.org/drawingml/2006/main" noGrp="1"/>
          </p:cNvSpPr>
          <p:nvPr/>
        </p:nvSpPr>
        <p:spPr>
          <a:xfrm xmlns:a="http://schemas.openxmlformats.org/drawingml/2006/main">
            <a:off x="13239750" y="3714750"/>
            <a:ext cx="9620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0">
                <a:solidFill>
                  <a:srgbClr val="EEECE3"/>
                </a:solidFill>
                <a:latin typeface="Arial"/>
                <a:ea typeface="Arial"/>
                <a:cs typeface="Arial"/>
              </a:defRPr>
            </a:pPr>
            <a:r>
              <a:rPr sz="4800" b="0">
                <a:solidFill>
                  <a:srgbClr val="EEECE3"/>
                </a:solidFill>
                <a:latin typeface="Arial"/>
                <a:ea typeface="Arial"/>
                <a:cs typeface="Arial"/>
              </a:rPr>
              <a:t>Transferring changes its recorded owner.</a:t>
            </a:r>
          </a:p>
        </p:txBody>
      </p:sp>
      <p:sp>
        <p:nvSpPr>
          <p:cNvPr id="5" name="">
            <a:extLst xmlns:a="http://schemas.openxmlformats.org/drawingml/2006/main">
              <a:ext uri="{FF2B5EF4-FFF2-40B4-BE49-F238E27FC236}">
                <a16:creationId xmlns:a16="http://schemas.microsoft.com/office/drawing/2014/main" id="{8A86622F-1F20-487C-AB33-C5B8306C4C38}"/>
              </a:ext>
            </a:extLst>
          </p:cNvPr>
          <p:cNvSpPr>
            <a:spLocks xmlns:a="http://schemas.openxmlformats.org/drawingml/2006/main" noGrp="1"/>
          </p:cNvSpPr>
          <p:nvPr/>
        </p:nvSpPr>
        <p:spPr>
          <a:xfrm xmlns:a="http://schemas.openxmlformats.org/drawingml/2006/main">
            <a:off x="1524000" y="6953250"/>
            <a:ext cx="2095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0">
                <a:solidFill>
                  <a:srgbClr val="BBBEB1"/>
                </a:solidFill>
                <a:latin typeface="Arial"/>
                <a:ea typeface="Arial"/>
                <a:cs typeface="Arial"/>
              </a:defRPr>
            </a:pPr>
            <a:r>
              <a:rPr sz="3900" b="0">
                <a:solidFill>
                  <a:srgbClr val="BBBEB1"/>
                </a:solidFill>
                <a:latin typeface="Arial"/>
                <a:ea typeface="Arial"/>
                <a:cs typeface="Arial"/>
              </a:rPr>
              <a:t>A typical mint involves:</a:t>
            </a:r>
          </a:p>
        </p:txBody>
      </p:sp>
      <p:sp>
        <p:nvSpPr>
          <p:cNvPr id="6" name="">
            <a:extLst xmlns:a="http://schemas.openxmlformats.org/drawingml/2006/main">
              <a:ext uri="{FF2B5EF4-FFF2-40B4-BE49-F238E27FC236}">
                <a16:creationId xmlns:a16="http://schemas.microsoft.com/office/drawing/2014/main" id="{AD1C4E60-E30A-49C0-ADC5-40521CC908EF}"/>
              </a:ext>
            </a:extLst>
          </p:cNvPr>
          <p:cNvSpPr>
            <a:spLocks xmlns:a="http://schemas.openxmlformats.org/drawingml/2006/main" noGrp="1"/>
          </p:cNvSpPr>
          <p:nvPr/>
        </p:nvSpPr>
        <p:spPr>
          <a:xfrm xmlns:a="http://schemas.openxmlformats.org/drawingml/2006/main">
            <a:off x="1524000" y="8572500"/>
            <a:ext cx="1333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800" b="0">
                <a:solidFill>
                  <a:srgbClr val="C4C898"/>
                </a:solidFill>
                <a:latin typeface="Arial"/>
                <a:ea typeface="Arial"/>
                <a:cs typeface="Arial"/>
              </a:defRPr>
            </a:pPr>
            <a:r>
              <a:rPr sz="7800" b="0">
                <a:solidFill>
                  <a:srgbClr val="C4C898"/>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92BB2C56-DB16-4E3E-9BD5-E3FEF84C3CA9}"/>
              </a:ext>
            </a:extLst>
          </p:cNvPr>
          <p:cNvSpPr>
            <a:spLocks xmlns:a="http://schemas.openxmlformats.org/drawingml/2006/main" noGrp="1"/>
          </p:cNvSpPr>
          <p:nvPr/>
        </p:nvSpPr>
        <p:spPr>
          <a:xfrm xmlns:a="http://schemas.openxmlformats.org/drawingml/2006/main">
            <a:off x="1524000" y="10382250"/>
            <a:ext cx="6667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0">
                <a:solidFill>
                  <a:srgbClr val="EEECE3"/>
                </a:solidFill>
                <a:latin typeface="Arial"/>
                <a:ea typeface="Arial"/>
                <a:cs typeface="Arial"/>
              </a:defRPr>
            </a:pPr>
            <a:r>
              <a:rPr sz="4050" b="0">
                <a:solidFill>
                  <a:srgbClr val="EEECE3"/>
                </a:solidFill>
                <a:latin typeface="Arial"/>
                <a:ea typeface="Arial"/>
                <a:cs typeface="Arial"/>
              </a:rPr>
              <a:t>Reviewing the request</a:t>
            </a:r>
          </a:p>
          <a:p xmlns:a="http://schemas.openxmlformats.org/drawingml/2006/main">
            <a:pPr algn="l">
              <a:defRPr sz="4050" b="0">
                <a:solidFill>
                  <a:srgbClr val="EEECE3"/>
                </a:solidFill>
                <a:latin typeface="Arial"/>
                <a:ea typeface="Arial"/>
                <a:cs typeface="Arial"/>
              </a:defRPr>
            </a:pPr>
            <a:r>
              <a:rPr sz="4050" b="0">
                <a:solidFill>
                  <a:srgbClr val="EEECE3"/>
                </a:solidFill>
                <a:latin typeface="Arial"/>
                <a:ea typeface="Arial"/>
                <a:cs typeface="Arial"/>
              </a:rPr>
              <a:t>in a wallet.</a:t>
            </a:r>
          </a:p>
        </p:txBody>
      </p:sp>
      <p:sp>
        <p:nvSpPr>
          <p:cNvPr id="8" name="">
            <a:extLst xmlns:a="http://schemas.openxmlformats.org/drawingml/2006/main">
              <a:ext uri="{FF2B5EF4-FFF2-40B4-BE49-F238E27FC236}">
                <a16:creationId xmlns:a16="http://schemas.microsoft.com/office/drawing/2014/main" id="{BFF9A3F0-31DF-4A69-A0EB-6F1157DC6A19}"/>
              </a:ext>
            </a:extLst>
          </p:cNvPr>
          <p:cNvSpPr>
            <a:spLocks xmlns:a="http://schemas.openxmlformats.org/drawingml/2006/main" noGrp="1"/>
          </p:cNvSpPr>
          <p:nvPr/>
        </p:nvSpPr>
        <p:spPr>
          <a:xfrm xmlns:a="http://schemas.openxmlformats.org/drawingml/2006/main">
            <a:off x="8953500" y="8572500"/>
            <a:ext cx="1333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800" b="0">
                <a:solidFill>
                  <a:srgbClr val="C4C898"/>
                </a:solidFill>
                <a:latin typeface="Arial"/>
                <a:ea typeface="Arial"/>
                <a:cs typeface="Arial"/>
              </a:defRPr>
            </a:pPr>
            <a:r>
              <a:rPr sz="7800" b="0">
                <a:solidFill>
                  <a:srgbClr val="C4C898"/>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045D6569-4A6A-4CA0-B6F3-004E565E344F}"/>
              </a:ext>
            </a:extLst>
          </p:cNvPr>
          <p:cNvSpPr>
            <a:spLocks xmlns:a="http://schemas.openxmlformats.org/drawingml/2006/main" noGrp="1"/>
          </p:cNvSpPr>
          <p:nvPr/>
        </p:nvSpPr>
        <p:spPr>
          <a:xfrm xmlns:a="http://schemas.openxmlformats.org/drawingml/2006/main">
            <a:off x="8953500" y="10382250"/>
            <a:ext cx="6667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0">
                <a:solidFill>
                  <a:srgbClr val="EEECE3"/>
                </a:solidFill>
                <a:latin typeface="Arial"/>
                <a:ea typeface="Arial"/>
                <a:cs typeface="Arial"/>
              </a:defRPr>
            </a:pPr>
            <a:r>
              <a:rPr sz="4050" b="0">
                <a:solidFill>
                  <a:srgbClr val="EEECE3"/>
                </a:solidFill>
                <a:latin typeface="Arial"/>
                <a:ea typeface="Arial"/>
                <a:cs typeface="Arial"/>
              </a:rPr>
              <a:t>Authorizing and submitting</a:t>
            </a:r>
          </a:p>
          <a:p xmlns:a="http://schemas.openxmlformats.org/drawingml/2006/main">
            <a:pPr algn="l">
              <a:defRPr sz="4050" b="0">
                <a:solidFill>
                  <a:srgbClr val="EEECE3"/>
                </a:solidFill>
                <a:latin typeface="Arial"/>
                <a:ea typeface="Arial"/>
                <a:cs typeface="Arial"/>
              </a:defRPr>
            </a:pPr>
            <a:r>
              <a:rPr sz="4050" b="0">
                <a:solidFill>
                  <a:srgbClr val="EEECE3"/>
                </a:solidFill>
                <a:latin typeface="Arial"/>
                <a:ea typeface="Arial"/>
                <a:cs typeface="Arial"/>
              </a:rPr>
              <a:t>a transaction.</a:t>
            </a:r>
          </a:p>
        </p:txBody>
      </p:sp>
      <p:sp>
        <p:nvSpPr>
          <p:cNvPr id="10" name="">
            <a:extLst xmlns:a="http://schemas.openxmlformats.org/drawingml/2006/main">
              <a:ext uri="{FF2B5EF4-FFF2-40B4-BE49-F238E27FC236}">
                <a16:creationId xmlns:a16="http://schemas.microsoft.com/office/drawing/2014/main" id="{CD8CA0F8-ED9A-4AF5-AC0A-204F988830AF}"/>
              </a:ext>
            </a:extLst>
          </p:cNvPr>
          <p:cNvSpPr>
            <a:spLocks xmlns:a="http://schemas.openxmlformats.org/drawingml/2006/main" noGrp="1"/>
          </p:cNvSpPr>
          <p:nvPr/>
        </p:nvSpPr>
        <p:spPr>
          <a:xfrm xmlns:a="http://schemas.openxmlformats.org/drawingml/2006/main">
            <a:off x="16383000" y="8572500"/>
            <a:ext cx="1333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800" b="0">
                <a:solidFill>
                  <a:srgbClr val="C4C898"/>
                </a:solidFill>
                <a:latin typeface="Arial"/>
                <a:ea typeface="Arial"/>
                <a:cs typeface="Arial"/>
              </a:defRPr>
            </a:pPr>
            <a:r>
              <a:rPr sz="7800" b="0">
                <a:solidFill>
                  <a:srgbClr val="C4C898"/>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196F0B13-BEE6-40F0-864A-8A355BAAE2B6}"/>
              </a:ext>
            </a:extLst>
          </p:cNvPr>
          <p:cNvSpPr>
            <a:spLocks xmlns:a="http://schemas.openxmlformats.org/drawingml/2006/main" noGrp="1"/>
          </p:cNvSpPr>
          <p:nvPr/>
        </p:nvSpPr>
        <p:spPr>
          <a:xfrm xmlns:a="http://schemas.openxmlformats.org/drawingml/2006/main">
            <a:off x="16383000" y="10382250"/>
            <a:ext cx="6667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0">
                <a:solidFill>
                  <a:srgbClr val="EEECE3"/>
                </a:solidFill>
                <a:latin typeface="Arial"/>
                <a:ea typeface="Arial"/>
                <a:cs typeface="Arial"/>
              </a:defRPr>
            </a:pPr>
            <a:r>
              <a:rPr sz="4050" b="0">
                <a:solidFill>
                  <a:srgbClr val="EEECE3"/>
                </a:solidFill>
                <a:latin typeface="Arial"/>
                <a:ea typeface="Arial"/>
                <a:cs typeface="Arial"/>
              </a:rPr>
              <a:t>Checking whether it succeeded</a:t>
            </a:r>
          </a:p>
          <a:p xmlns:a="http://schemas.openxmlformats.org/drawingml/2006/main">
            <a:pPr algn="l">
              <a:defRPr sz="4050" b="0">
                <a:solidFill>
                  <a:srgbClr val="EEECE3"/>
                </a:solidFill>
                <a:latin typeface="Arial"/>
                <a:ea typeface="Arial"/>
                <a:cs typeface="Arial"/>
              </a:defRPr>
            </a:pPr>
            <a:r>
              <a:rPr sz="4050" b="0">
                <a:solidFill>
                  <a:srgbClr val="EEECE3"/>
                </a:solidFill>
                <a:latin typeface="Arial"/>
                <a:ea typeface="Arial"/>
                <a:cs typeface="Arial"/>
              </a:rPr>
              <a:t>on the intended network.</a:t>
            </a:r>
          </a:p>
        </p:txBody>
      </p:sp>
    </p:spTree>
    <p:extLst>
      <p:ext uri="{BB962C8B-B14F-4D97-AF65-F5344CB8AC3E}">
        <p14:creationId xmlns:p14="http://schemas.microsoft.com/office/powerpoint/2010/main" val="1804824598"/>
      </p:ext>
    </p:extLst>
  </p:cSld>
</p:sld>
</file>

<file path=ppt/slides/slide8.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E1C3C7-5D8C-4EDE-A628-7F01C4A00AF2}"/>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Gas and transaction costs</a:t>
            </a:r>
          </a:p>
        </p:txBody>
      </p:sp>
      <p:sp>
        <p:nvSpPr>
          <p:cNvPr id="2" name="">
            <a:extLst xmlns:a="http://schemas.openxmlformats.org/drawingml/2006/main">
              <a:ext uri="{FF2B5EF4-FFF2-40B4-BE49-F238E27FC236}">
                <a16:creationId xmlns:a16="http://schemas.microsoft.com/office/drawing/2014/main" id="{F050BE3A-3637-40B8-9A44-5829AF5AA39B}"/>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37CCD3A7-B610-4EDE-8326-C1953A5F5962}"/>
              </a:ext>
            </a:extLst>
          </p:cNvPr>
          <p:cNvSpPr>
            <a:spLocks xmlns:a="http://schemas.openxmlformats.org/drawingml/2006/main" noGrp="1"/>
          </p:cNvSpPr>
          <p:nvPr/>
        </p:nvSpPr>
        <p:spPr>
          <a:xfrm xmlns:a="http://schemas.openxmlformats.org/drawingml/2006/main">
            <a:off x="1524000" y="3676650"/>
            <a:ext cx="2095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950" b="0">
                <a:solidFill>
                  <a:srgbClr val="EEECE3"/>
                </a:solidFill>
                <a:latin typeface="Arial"/>
                <a:ea typeface="Arial"/>
                <a:cs typeface="Arial"/>
              </a:defRPr>
            </a:pPr>
            <a:r>
              <a:rPr sz="4950" b="0">
                <a:solidFill>
                  <a:srgbClr val="EEECE3"/>
                </a:solidFill>
                <a:latin typeface="Arial"/>
                <a:ea typeface="Arial"/>
                <a:cs typeface="Arial"/>
              </a:rPr>
              <a:t>Gas measures computational work.</a:t>
            </a:r>
          </a:p>
        </p:txBody>
      </p:sp>
      <p:sp>
        <p:nvSpPr>
          <p:cNvPr id="4" name="">
            <a:extLst xmlns:a="http://schemas.openxmlformats.org/drawingml/2006/main">
              <a:ext uri="{FF2B5EF4-FFF2-40B4-BE49-F238E27FC236}">
                <a16:creationId xmlns:a16="http://schemas.microsoft.com/office/drawing/2014/main" id="{DD6AF37A-EAC2-4640-B383-65B2FC929F4C}"/>
              </a:ext>
            </a:extLst>
          </p:cNvPr>
          <p:cNvSpPr>
            <a:spLocks xmlns:a="http://schemas.openxmlformats.org/drawingml/2006/main" noGrp="1"/>
          </p:cNvSpPr>
          <p:nvPr/>
        </p:nvSpPr>
        <p:spPr>
          <a:xfrm xmlns:a="http://schemas.openxmlformats.org/drawingml/2006/main">
            <a:off x="1524000" y="6000750"/>
            <a:ext cx="20955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750" b="1">
                <a:solidFill>
                  <a:srgbClr val="C4C898"/>
                </a:solidFill>
                <a:latin typeface="Arial"/>
                <a:ea typeface="Arial"/>
                <a:cs typeface="Arial"/>
              </a:defRPr>
            </a:pPr>
            <a:r>
              <a:rPr sz="6750" b="1">
                <a:solidFill>
                  <a:srgbClr val="C4C898"/>
                </a:solidFill>
                <a:latin typeface="Arial"/>
                <a:ea typeface="Arial"/>
                <a:cs typeface="Arial"/>
              </a:rPr>
              <a:t>Transaction fee</a:t>
            </a:r>
          </a:p>
        </p:txBody>
      </p:sp>
      <p:sp>
        <p:nvSpPr>
          <p:cNvPr id="5" name="">
            <a:extLst xmlns:a="http://schemas.openxmlformats.org/drawingml/2006/main">
              <a:ext uri="{FF2B5EF4-FFF2-40B4-BE49-F238E27FC236}">
                <a16:creationId xmlns:a16="http://schemas.microsoft.com/office/drawing/2014/main" id="{1AE8988C-B0CF-43D2-9144-D70E53D3962D}"/>
              </a:ext>
            </a:extLst>
          </p:cNvPr>
          <p:cNvSpPr>
            <a:spLocks xmlns:a="http://schemas.openxmlformats.org/drawingml/2006/main" noGrp="1"/>
          </p:cNvSpPr>
          <p:nvPr/>
        </p:nvSpPr>
        <p:spPr>
          <a:xfrm xmlns:a="http://schemas.openxmlformats.org/drawingml/2006/main">
            <a:off x="1524000" y="7391400"/>
            <a:ext cx="2152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300" b="0">
                <a:solidFill>
                  <a:srgbClr val="EEECE3"/>
                </a:solidFill>
                <a:latin typeface="Arial"/>
                <a:ea typeface="Arial"/>
                <a:cs typeface="Arial"/>
              </a:defRPr>
            </a:pPr>
            <a:r>
              <a:rPr sz="6300" b="0">
                <a:solidFill>
                  <a:srgbClr val="EEECE3"/>
                </a:solidFill>
                <a:latin typeface="Arial"/>
                <a:ea typeface="Arial"/>
                <a:cs typeface="Arial"/>
              </a:rPr>
              <a:t>= gas used × effective price per gas</a:t>
            </a:r>
          </a:p>
        </p:txBody>
      </p:sp>
      <p:sp>
        <p:nvSpPr>
          <p:cNvPr id="6" name="">
            <a:extLst xmlns:a="http://schemas.openxmlformats.org/drawingml/2006/main">
              <a:ext uri="{FF2B5EF4-FFF2-40B4-BE49-F238E27FC236}">
                <a16:creationId xmlns:a16="http://schemas.microsoft.com/office/drawing/2014/main" id="{A08B099E-20FF-486A-BF3E-0B769DCDE4A1}"/>
              </a:ext>
            </a:extLst>
          </p:cNvPr>
          <p:cNvSpPr>
            <a:spLocks xmlns:a="http://schemas.openxmlformats.org/drawingml/2006/main" noGrp="1"/>
          </p:cNvSpPr>
          <p:nvPr/>
        </p:nvSpPr>
        <p:spPr>
          <a:xfrm xmlns:a="http://schemas.openxmlformats.org/drawingml/2006/main">
            <a:off x="1524000" y="10096500"/>
            <a:ext cx="20955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rPr>
              <a:t>The network fee is separate from an NFT's purchase price.</a:t>
            </a:r>
          </a:p>
        </p:txBody>
      </p:sp>
      <p:sp>
        <p:nvSpPr>
          <p:cNvPr id="7" name="">
            <a:extLst xmlns:a="http://schemas.openxmlformats.org/drawingml/2006/main">
              <a:ext uri="{FF2B5EF4-FFF2-40B4-BE49-F238E27FC236}">
                <a16:creationId xmlns:a16="http://schemas.microsoft.com/office/drawing/2014/main" id="{6397FACD-BA43-49C0-B4BE-29679247F448}"/>
              </a:ext>
            </a:extLst>
          </p:cNvPr>
          <p:cNvSpPr>
            <a:spLocks xmlns:a="http://schemas.openxmlformats.org/drawingml/2006/main" noGrp="1"/>
          </p:cNvSpPr>
          <p:nvPr/>
        </p:nvSpPr>
        <p:spPr>
          <a:xfrm xmlns:a="http://schemas.openxmlformats.org/drawingml/2006/main">
            <a:off x="1524000" y="11430000"/>
            <a:ext cx="2095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0">
                <a:solidFill>
                  <a:srgbClr val="BBBEB1"/>
                </a:solidFill>
                <a:latin typeface="Arial"/>
                <a:ea typeface="Arial"/>
                <a:cs typeface="Arial"/>
              </a:defRPr>
            </a:pPr>
            <a:r>
              <a:rPr sz="4050" b="0">
                <a:solidFill>
                  <a:srgbClr val="BBBEB1"/>
                </a:solidFill>
                <a:latin typeface="Arial"/>
                <a:ea typeface="Arial"/>
                <a:cs typeface="Arial"/>
              </a:rPr>
              <a:t>A failed transaction included onchain can still cost gas.</a:t>
            </a:r>
          </a:p>
        </p:txBody>
      </p:sp>
    </p:spTree>
    <p:extLst>
      <p:ext uri="{BB962C8B-B14F-4D97-AF65-F5344CB8AC3E}">
        <p14:creationId xmlns:p14="http://schemas.microsoft.com/office/powerpoint/2010/main" val="1383594620"/>
      </p:ext>
    </p:extLst>
  </p:cSld>
</p:sld>
</file>

<file path=ppt/slides/slide9.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19FB7D3-6C04-486F-BA7D-BB484130F26A}"/>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Artwork, token, and metadata</a:t>
            </a:r>
          </a:p>
        </p:txBody>
      </p:sp>
      <p:sp>
        <p:nvSpPr>
          <p:cNvPr id="2" name="">
            <a:extLst xmlns:a="http://schemas.openxmlformats.org/drawingml/2006/main">
              <a:ext uri="{FF2B5EF4-FFF2-40B4-BE49-F238E27FC236}">
                <a16:creationId xmlns:a16="http://schemas.microsoft.com/office/drawing/2014/main" id="{DCA90496-99A8-4527-829B-A12ACD1BA36D}"/>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4BED627C-253F-4565-8766-A4593C74A93A}"/>
              </a:ext>
            </a:extLst>
          </p:cNvPr>
          <p:cNvSpPr>
            <a:spLocks xmlns:a="http://schemas.openxmlformats.org/drawingml/2006/main" noGrp="1"/>
          </p:cNvSpPr>
          <p:nvPr/>
        </p:nvSpPr>
        <p:spPr>
          <a:xfrm xmlns:a="http://schemas.openxmlformats.org/drawingml/2006/main">
            <a:off x="1524000" y="3429000"/>
            <a:ext cx="2095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BBBEB1"/>
                </a:solidFill>
                <a:latin typeface="Arial"/>
                <a:ea typeface="Arial"/>
                <a:cs typeface="Arial"/>
              </a:defRPr>
            </a:pPr>
            <a:r>
              <a:rPr sz="3750" b="0">
                <a:solidFill>
                  <a:srgbClr val="BBBEB1"/>
                </a:solidFill>
                <a:latin typeface="Arial"/>
                <a:ea typeface="Arial"/>
                <a:cs typeface="Arial"/>
              </a:rPr>
              <a:t>For a typical ERC-721 NFT:</a:t>
            </a:r>
          </a:p>
        </p:txBody>
      </p:sp>
      <p:sp>
        <p:nvSpPr>
          <p:cNvPr id="4" name="">
            <a:extLst xmlns:a="http://schemas.openxmlformats.org/drawingml/2006/main">
              <a:ext uri="{FF2B5EF4-FFF2-40B4-BE49-F238E27FC236}">
                <a16:creationId xmlns:a16="http://schemas.microsoft.com/office/drawing/2014/main" id="{0B54260E-0B45-4EE5-897F-B8799168649A}"/>
              </a:ext>
            </a:extLst>
          </p:cNvPr>
          <p:cNvSpPr>
            <a:spLocks xmlns:a="http://schemas.openxmlformats.org/drawingml/2006/main" noGrp="1"/>
          </p:cNvSpPr>
          <p:nvPr/>
        </p:nvSpPr>
        <p:spPr>
          <a:xfrm xmlns:a="http://schemas.openxmlformats.org/drawingml/2006/main">
            <a:off x="1524000" y="4953000"/>
            <a:ext cx="5429250" cy="1257300"/>
          </a:xfrm>
          <a:prstGeom xmlns:a="http://schemas.openxmlformats.org/drawingml/2006/main" prst="rect">
            <a:avLst/>
          </a:prstGeom>
          <a:solidFill xmlns:a="http://schemas.openxmlformats.org/drawingml/2006/main">
            <a:srgbClr val="10110F"/>
          </a:solidFill>
          <a:ln xmlns:a="http://schemas.openxmlformats.org/drawingml/2006/main" w="19050">
            <a:solidFill>
              <a:srgbClr val="666A57"/>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EEECE3"/>
                </a:solidFill>
                <a:latin typeface="Arial"/>
                <a:ea typeface="Arial"/>
                <a:cs typeface="Arial"/>
              </a:defRPr>
            </a:pPr>
            <a:r>
              <a:rPr sz="3750">
                <a:solidFill>
                  <a:srgbClr val="EEECE3"/>
                </a:solidFill>
                <a:latin typeface="Arial"/>
                <a:ea typeface="Arial"/>
                <a:cs typeface="Arial"/>
              </a:rPr>
              <a:t>Token record</a:t>
            </a:r>
          </a:p>
        </p:txBody>
      </p:sp>
      <p:sp>
        <p:nvSpPr>
          <p:cNvPr id="5" name="">
            <a:extLst xmlns:a="http://schemas.openxmlformats.org/drawingml/2006/main">
              <a:ext uri="{FF2B5EF4-FFF2-40B4-BE49-F238E27FC236}">
                <a16:creationId xmlns:a16="http://schemas.microsoft.com/office/drawing/2014/main" id="{059650C9-3022-49FD-899F-7C88E1C7BD71}"/>
              </a:ext>
            </a:extLst>
          </p:cNvPr>
          <p:cNvSpPr>
            <a:spLocks xmlns:a="http://schemas.openxmlformats.org/drawingml/2006/main" noGrp="1"/>
          </p:cNvSpPr>
          <p:nvPr/>
        </p:nvSpPr>
        <p:spPr>
          <a:xfrm xmlns:a="http://schemas.openxmlformats.org/drawingml/2006/main">
            <a:off x="9334500" y="4953000"/>
            <a:ext cx="5429250" cy="1257300"/>
          </a:xfrm>
          <a:prstGeom xmlns:a="http://schemas.openxmlformats.org/drawingml/2006/main" prst="rect">
            <a:avLst/>
          </a:prstGeom>
          <a:solidFill xmlns:a="http://schemas.openxmlformats.org/drawingml/2006/main">
            <a:srgbClr val="10110F"/>
          </a:solidFill>
          <a:ln xmlns:a="http://schemas.openxmlformats.org/drawingml/2006/main" w="19050">
            <a:solidFill>
              <a:srgbClr val="666A57"/>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EEECE3"/>
                </a:solidFill>
                <a:latin typeface="Arial"/>
                <a:ea typeface="Arial"/>
                <a:cs typeface="Arial"/>
              </a:defRPr>
            </a:pPr>
            <a:r>
              <a:rPr sz="3750">
                <a:solidFill>
                  <a:srgbClr val="EEECE3"/>
                </a:solidFill>
                <a:latin typeface="Arial"/>
                <a:ea typeface="Arial"/>
                <a:cs typeface="Arial"/>
              </a:rPr>
              <a:t>Metadata</a:t>
            </a:r>
          </a:p>
        </p:txBody>
      </p:sp>
      <p:sp>
        <p:nvSpPr>
          <p:cNvPr id="6" name="">
            <a:extLst xmlns:a="http://schemas.openxmlformats.org/drawingml/2006/main">
              <a:ext uri="{FF2B5EF4-FFF2-40B4-BE49-F238E27FC236}">
                <a16:creationId xmlns:a16="http://schemas.microsoft.com/office/drawing/2014/main" id="{F997F8A1-2C80-4C13-A9F9-96E96A4713A4}"/>
              </a:ext>
            </a:extLst>
          </p:cNvPr>
          <p:cNvSpPr>
            <a:spLocks xmlns:a="http://schemas.openxmlformats.org/drawingml/2006/main" noGrp="1"/>
          </p:cNvSpPr>
          <p:nvPr/>
        </p:nvSpPr>
        <p:spPr>
          <a:xfrm xmlns:a="http://schemas.openxmlformats.org/drawingml/2006/main">
            <a:off x="17145000" y="4953000"/>
            <a:ext cx="5429250" cy="1257300"/>
          </a:xfrm>
          <a:prstGeom xmlns:a="http://schemas.openxmlformats.org/drawingml/2006/main" prst="rect">
            <a:avLst/>
          </a:prstGeom>
          <a:solidFill xmlns:a="http://schemas.openxmlformats.org/drawingml/2006/main">
            <a:srgbClr val="10110F"/>
          </a:solidFill>
          <a:ln xmlns:a="http://schemas.openxmlformats.org/drawingml/2006/main" w="19050">
            <a:solidFill>
              <a:srgbClr val="666A57"/>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EEECE3"/>
                </a:solidFill>
                <a:latin typeface="Arial"/>
                <a:ea typeface="Arial"/>
                <a:cs typeface="Arial"/>
              </a:defRPr>
            </a:pPr>
            <a:r>
              <a:rPr sz="3750">
                <a:solidFill>
                  <a:srgbClr val="EEECE3"/>
                </a:solidFill>
                <a:latin typeface="Arial"/>
                <a:ea typeface="Arial"/>
                <a:cs typeface="Arial"/>
              </a:rPr>
              <a:t>Image</a:t>
            </a:r>
          </a:p>
        </p:txBody>
      </p: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6953250" y="5581650"/>
            <a:ext cx="2381250" cy="0"/>
          </a:xfrm>
          <a:prstGeom xmlns:a="http://schemas.openxmlformats.org/drawingml/2006/main" prst="straightConnector1">
            <a:avLst/>
          </a:prstGeom>
          <a:ln xmlns:a="http://schemas.openxmlformats.org/drawingml/2006/main" w="28575">
            <a:solidFill>
              <a:srgbClr val="666A57"/>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14763750" y="5581650"/>
            <a:ext cx="2381250" cy="0"/>
          </a:xfrm>
          <a:prstGeom xmlns:a="http://schemas.openxmlformats.org/drawingml/2006/main" prst="straightConnector1">
            <a:avLst/>
          </a:prstGeom>
          <a:ln xmlns:a="http://schemas.openxmlformats.org/drawingml/2006/main" w="28575">
            <a:solidFill>
              <a:srgbClr val="666A57"/>
            </a:solidFill>
            <a:tailEnd type="triangle" w="med" len="med"/>
          </a:ln>
        </p:spPr>
      </p:cxnSp>
      <p:sp>
        <p:nvSpPr>
          <p:cNvPr id="9" name="">
            <a:extLst xmlns:a="http://schemas.openxmlformats.org/drawingml/2006/main">
              <a:ext uri="{FF2B5EF4-FFF2-40B4-BE49-F238E27FC236}">
                <a16:creationId xmlns:a16="http://schemas.microsoft.com/office/drawing/2014/main" id="{E7ABA98B-B7D9-462F-9E99-0C30BE9E264C}"/>
              </a:ext>
            </a:extLst>
          </p:cNvPr>
          <p:cNvSpPr>
            <a:spLocks xmlns:a="http://schemas.openxmlformats.org/drawingml/2006/main" noGrp="1"/>
          </p:cNvSpPr>
          <p:nvPr/>
        </p:nvSpPr>
        <p:spPr>
          <a:xfrm xmlns:a="http://schemas.openxmlformats.org/drawingml/2006/main">
            <a:off x="1524000" y="6953250"/>
            <a:ext cx="5429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rPr>
              <a:t>Chain</a:t>
            </a:r>
          </a:p>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rPr>
              <a:t>Contract address</a:t>
            </a:r>
          </a:p>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rPr>
              <a:t>Token ID</a:t>
            </a:r>
          </a:p>
        </p:txBody>
      </p:sp>
      <p:sp>
        <p:nvSpPr>
          <p:cNvPr id="10" name="">
            <a:extLst xmlns:a="http://schemas.openxmlformats.org/drawingml/2006/main">
              <a:ext uri="{FF2B5EF4-FFF2-40B4-BE49-F238E27FC236}">
                <a16:creationId xmlns:a16="http://schemas.microsoft.com/office/drawing/2014/main" id="{B8EC7260-3C89-466B-A584-5980592DA466}"/>
              </a:ext>
            </a:extLst>
          </p:cNvPr>
          <p:cNvSpPr>
            <a:spLocks xmlns:a="http://schemas.openxmlformats.org/drawingml/2006/main" noGrp="1"/>
          </p:cNvSpPr>
          <p:nvPr/>
        </p:nvSpPr>
        <p:spPr>
          <a:xfrm xmlns:a="http://schemas.openxmlformats.org/drawingml/2006/main">
            <a:off x="9334500" y="6953250"/>
            <a:ext cx="5429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rPr>
              <a:t>Describes the token</a:t>
            </a:r>
          </a:p>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rPr>
              <a:t>May point to an image</a:t>
            </a:r>
          </a:p>
        </p:txBody>
      </p:sp>
      <p:sp>
        <p:nvSpPr>
          <p:cNvPr id="11" name="">
            <a:extLst xmlns:a="http://schemas.openxmlformats.org/drawingml/2006/main">
              <a:ext uri="{FF2B5EF4-FFF2-40B4-BE49-F238E27FC236}">
                <a16:creationId xmlns:a16="http://schemas.microsoft.com/office/drawing/2014/main" id="{51D95141-D020-4CD5-ADBC-8C948C16A36D}"/>
              </a:ext>
            </a:extLst>
          </p:cNvPr>
          <p:cNvSpPr>
            <a:spLocks xmlns:a="http://schemas.openxmlformats.org/drawingml/2006/main" noGrp="1"/>
          </p:cNvSpPr>
          <p:nvPr/>
        </p:nvSpPr>
        <p:spPr>
          <a:xfrm xmlns:a="http://schemas.openxmlformats.org/drawingml/2006/main">
            <a:off x="17145000" y="6953250"/>
            <a:ext cx="5429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rPr>
              <a:t>May live outside</a:t>
            </a:r>
          </a:p>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rPr>
              <a:t>the blockchain</a:t>
            </a:r>
          </a:p>
        </p:txBody>
      </p:sp>
      <p:sp>
        <p:nvSpPr>
          <p:cNvPr id="12" name="">
            <a:extLst xmlns:a="http://schemas.openxmlformats.org/drawingml/2006/main">
              <a:ext uri="{FF2B5EF4-FFF2-40B4-BE49-F238E27FC236}">
                <a16:creationId xmlns:a16="http://schemas.microsoft.com/office/drawing/2014/main" id="{61E7D13A-4DCE-4E57-9D92-49B09F4D3AB8}"/>
              </a:ext>
            </a:extLst>
          </p:cNvPr>
          <p:cNvSpPr>
            <a:spLocks xmlns:a="http://schemas.openxmlformats.org/drawingml/2006/main" noGrp="1"/>
          </p:cNvSpPr>
          <p:nvPr/>
        </p:nvSpPr>
        <p:spPr>
          <a:xfrm xmlns:a="http://schemas.openxmlformats.org/drawingml/2006/main">
            <a:off x="1524000" y="10477500"/>
            <a:ext cx="2095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100" b="0">
                <a:solidFill>
                  <a:srgbClr val="C4C898"/>
                </a:solidFill>
                <a:latin typeface="Arial"/>
                <a:ea typeface="Arial"/>
                <a:cs typeface="Arial"/>
              </a:defRPr>
            </a:pPr>
            <a:r>
              <a:rPr sz="5100" b="0">
                <a:solidFill>
                  <a:srgbClr val="C4C898"/>
                </a:solidFill>
                <a:latin typeface="Arial"/>
                <a:ea typeface="Arial"/>
                <a:cs typeface="Arial"/>
              </a:rPr>
              <a:t>Where does each part live? Who can change it?</a:t>
            </a:r>
          </a:p>
        </p:txBody>
      </p:sp>
      <p:sp>
        <p:nvSpPr>
          <p:cNvPr id="13" name="">
            <a:extLst xmlns:a="http://schemas.openxmlformats.org/drawingml/2006/main">
              <a:ext uri="{FF2B5EF4-FFF2-40B4-BE49-F238E27FC236}">
                <a16:creationId xmlns:a16="http://schemas.microsoft.com/office/drawing/2014/main" id="{8DC1B511-AEE4-4CE5-8460-EBB5D7567F75}"/>
              </a:ext>
            </a:extLst>
          </p:cNvPr>
          <p:cNvSpPr>
            <a:spLocks xmlns:a="http://schemas.openxmlformats.org/drawingml/2006/main" noGrp="1"/>
          </p:cNvSpPr>
          <p:nvPr/>
        </p:nvSpPr>
        <p:spPr>
          <a:xfrm xmlns:a="http://schemas.openxmlformats.org/drawingml/2006/main">
            <a:off x="1524000" y="12096750"/>
            <a:ext cx="1905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0">
                <a:solidFill>
                  <a:srgbClr val="BBBEB1"/>
                </a:solidFill>
                <a:latin typeface="Arial"/>
                <a:ea typeface="Arial"/>
                <a:cs typeface="Arial"/>
              </a:defRPr>
            </a:pPr>
            <a:r>
              <a:rPr sz="2700" b="0">
                <a:solidFill>
                  <a:srgbClr val="BBBEB1"/>
                </a:solidFill>
                <a:latin typeface="Arial"/>
                <a:ea typeface="Arial"/>
                <a:cs typeface="Arial"/>
              </a:rPr>
              <a:t>Conceptual example</a:t>
            </a:r>
          </a:p>
        </p:txBody>
      </p:sp>
    </p:spTree>
    <p:extLst>
      <p:ext uri="{BB962C8B-B14F-4D97-AF65-F5344CB8AC3E}">
        <p14:creationId xmlns:p14="http://schemas.microsoft.com/office/powerpoint/2010/main" val="950540546"/>
      </p:ext>
    </p:extLst>
  </p:cSld>
</p:sld>
</file>

<file path=ppt/slides/slide10.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FF9A3B-BD9A-4CBE-8D4A-EC241DC0149A}"/>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Provenance and authorship</a:t>
            </a:r>
          </a:p>
        </p:txBody>
      </p:sp>
      <p:sp>
        <p:nvSpPr>
          <p:cNvPr id="2" name="">
            <a:extLst xmlns:a="http://schemas.openxmlformats.org/drawingml/2006/main">
              <a:ext uri="{FF2B5EF4-FFF2-40B4-BE49-F238E27FC236}">
                <a16:creationId xmlns:a16="http://schemas.microsoft.com/office/drawing/2014/main" id="{7DC4C90E-60E7-4831-BBFC-2033A66C8A51}"/>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9B0DF807-6516-4C7C-8B51-41B1689E7CA2}"/>
              </a:ext>
            </a:extLst>
          </p:cNvPr>
          <p:cNvSpPr>
            <a:spLocks xmlns:a="http://schemas.openxmlformats.org/drawingml/2006/main" noGrp="1"/>
          </p:cNvSpPr>
          <p:nvPr/>
        </p:nvSpPr>
        <p:spPr>
          <a:xfrm xmlns:a="http://schemas.openxmlformats.org/drawingml/2006/main">
            <a:off x="1524000" y="3619500"/>
            <a:ext cx="2095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0">
                <a:solidFill>
                  <a:srgbClr val="EEECE3"/>
                </a:solidFill>
                <a:latin typeface="Arial"/>
                <a:ea typeface="Arial"/>
                <a:cs typeface="Arial"/>
              </a:defRPr>
            </a:pPr>
            <a:r>
              <a:rPr sz="4650" b="0">
                <a:solidFill>
                  <a:srgbClr val="EEECE3"/>
                </a:solidFill>
                <a:latin typeface="Arial"/>
                <a:ea typeface="Arial"/>
                <a:cs typeface="Arial"/>
              </a:rPr>
              <a:t>Provenance concerns an object's origin and history.</a:t>
            </a:r>
          </a:p>
        </p:txBody>
      </p:sp>
      <p:sp>
        <p:nvSpPr>
          <p:cNvPr id="4" name="">
            <a:extLst xmlns:a="http://schemas.openxmlformats.org/drawingml/2006/main">
              <a:ext uri="{FF2B5EF4-FFF2-40B4-BE49-F238E27FC236}">
                <a16:creationId xmlns:a16="http://schemas.microsoft.com/office/drawing/2014/main" id="{DF09ACCF-3043-4FFB-9E5B-05A3B8F82164}"/>
              </a:ext>
            </a:extLst>
          </p:cNvPr>
          <p:cNvSpPr>
            <a:spLocks xmlns:a="http://schemas.openxmlformats.org/drawingml/2006/main" noGrp="1"/>
          </p:cNvSpPr>
          <p:nvPr/>
        </p:nvSpPr>
        <p:spPr>
          <a:xfrm xmlns:a="http://schemas.openxmlformats.org/drawingml/2006/main">
            <a:off x="1524000" y="6191250"/>
            <a:ext cx="9525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0">
                <a:solidFill>
                  <a:srgbClr val="EEECE3"/>
                </a:solidFill>
                <a:latin typeface="Arial"/>
                <a:ea typeface="Arial"/>
                <a:cs typeface="Arial"/>
              </a:defRPr>
            </a:pPr>
            <a:r>
              <a:rPr sz="5400" b="0">
                <a:solidFill>
                  <a:srgbClr val="EEECE3"/>
                </a:solidFill>
                <a:latin typeface="Arial"/>
                <a:ea typeface="Arial"/>
                <a:cs typeface="Arial"/>
              </a:rPr>
              <a:t>A token's history can show its mint and transfers.</a:t>
            </a:r>
          </a:p>
        </p:txBody>
      </p:sp>
      <p:sp>
        <p:nvSpPr>
          <p:cNvPr id="5" name="">
            <a:extLst xmlns:a="http://schemas.openxmlformats.org/drawingml/2006/main">
              <a:ext uri="{FF2B5EF4-FFF2-40B4-BE49-F238E27FC236}">
                <a16:creationId xmlns:a16="http://schemas.microsoft.com/office/drawing/2014/main" id="{D0B7421F-B682-487A-BF2C-41DE1D64590B}"/>
              </a:ext>
            </a:extLst>
          </p:cNvPr>
          <p:cNvSpPr>
            <a:spLocks xmlns:a="http://schemas.openxmlformats.org/drawingml/2006/main" noGrp="1"/>
          </p:cNvSpPr>
          <p:nvPr/>
        </p:nvSpPr>
        <p:spPr>
          <a:xfrm xmlns:a="http://schemas.openxmlformats.org/drawingml/2006/main">
            <a:off x="13335000" y="6191250"/>
            <a:ext cx="9144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0">
                <a:solidFill>
                  <a:srgbClr val="C4C898"/>
                </a:solidFill>
                <a:latin typeface="Arial"/>
                <a:ea typeface="Arial"/>
                <a:cs typeface="Arial"/>
              </a:defRPr>
            </a:pPr>
            <a:r>
              <a:rPr sz="5400" b="0">
                <a:solidFill>
                  <a:srgbClr val="C4C898"/>
                </a:solidFill>
                <a:latin typeface="Arial"/>
                <a:ea typeface="Arial"/>
                <a:cs typeface="Arial"/>
              </a:rPr>
              <a:t>The connection to an artist still needs evidence.</a:t>
            </a:r>
          </a:p>
        </p:txBody>
      </p:sp>
      <p:sp>
        <p:nvSpPr>
          <p:cNvPr id="6" name="">
            <a:extLst xmlns:a="http://schemas.openxmlformats.org/drawingml/2006/main">
              <a:ext uri="{FF2B5EF4-FFF2-40B4-BE49-F238E27FC236}">
                <a16:creationId xmlns:a16="http://schemas.microsoft.com/office/drawing/2014/main" id="{CBD89509-24BE-4690-B796-B1381BF9C1B8}"/>
              </a:ext>
            </a:extLst>
          </p:cNvPr>
          <p:cNvSpPr>
            <a:spLocks xmlns:a="http://schemas.openxmlformats.org/drawingml/2006/main" noGrp="1"/>
          </p:cNvSpPr>
          <p:nvPr/>
        </p:nvSpPr>
        <p:spPr>
          <a:xfrm xmlns:a="http://schemas.openxmlformats.org/drawingml/2006/main">
            <a:off x="1524000" y="10382250"/>
            <a:ext cx="2095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0">
                <a:solidFill>
                  <a:srgbClr val="EEECE3"/>
                </a:solidFill>
                <a:latin typeface="Arial"/>
                <a:ea typeface="Arial"/>
                <a:cs typeface="Arial"/>
              </a:defRPr>
            </a:pPr>
            <a:r>
              <a:rPr sz="4800" b="0">
                <a:solidFill>
                  <a:srgbClr val="EEECE3"/>
                </a:solidFill>
                <a:latin typeface="Arial"/>
                <a:ea typeface="Arial"/>
                <a:cs typeface="Arial"/>
              </a:rPr>
              <a:t>What links this contract to the person claiming to have made the work?</a:t>
            </a:r>
          </a:p>
        </p:txBody>
      </p:sp>
    </p:spTree>
    <p:extLst>
      <p:ext uri="{BB962C8B-B14F-4D97-AF65-F5344CB8AC3E}">
        <p14:creationId xmlns:p14="http://schemas.microsoft.com/office/powerpoint/2010/main" val="763287182"/>
      </p:ext>
    </p:extLst>
  </p:cSld>
</p:sld>
</file>

<file path=ppt/slides/slide11.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999EC6-B711-4300-AC28-76174A3C7BF1}"/>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What does ownership include?</a:t>
            </a:r>
          </a:p>
        </p:txBody>
      </p:sp>
      <p:sp>
        <p:nvSpPr>
          <p:cNvPr id="2" name="">
            <a:extLst xmlns:a="http://schemas.openxmlformats.org/drawingml/2006/main">
              <a:ext uri="{FF2B5EF4-FFF2-40B4-BE49-F238E27FC236}">
                <a16:creationId xmlns:a16="http://schemas.microsoft.com/office/drawing/2014/main" id="{1C3E235D-8D4B-4E22-8D17-A86DA540F8BE}"/>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36290231-D83A-4D70-B262-B9E44D625223}"/>
              </a:ext>
            </a:extLst>
          </p:cNvPr>
          <p:cNvSpPr>
            <a:spLocks xmlns:a="http://schemas.openxmlformats.org/drawingml/2006/main" noGrp="1"/>
          </p:cNvSpPr>
          <p:nvPr/>
        </p:nvSpPr>
        <p:spPr>
          <a:xfrm xmlns:a="http://schemas.openxmlformats.org/drawingml/2006/main">
            <a:off x="1524000" y="3524250"/>
            <a:ext cx="20955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0">
                <a:solidFill>
                  <a:srgbClr val="EEECE3"/>
                </a:solidFill>
                <a:latin typeface="Arial"/>
                <a:ea typeface="Arial"/>
                <a:cs typeface="Arial"/>
              </a:defRPr>
            </a:pPr>
            <a:r>
              <a:rPr sz="5400" b="0">
                <a:solidFill>
                  <a:srgbClr val="EEECE3"/>
                </a:solidFill>
                <a:latin typeface="Arial"/>
                <a:ea typeface="Arial"/>
                <a:cs typeface="Arial"/>
              </a:rPr>
              <a:t>Token ownership, copyright, and access benefits are separate questions.</a:t>
            </a:r>
          </a:p>
        </p:txBody>
      </p:sp>
      <p:sp>
        <p:nvSpPr>
          <p:cNvPr id="4" name="">
            <a:extLst xmlns:a="http://schemas.openxmlformats.org/drawingml/2006/main">
              <a:ext uri="{FF2B5EF4-FFF2-40B4-BE49-F238E27FC236}">
                <a16:creationId xmlns:a16="http://schemas.microsoft.com/office/drawing/2014/main" id="{FDB730E4-861F-4F95-B7A5-C8B960EF4B9B}"/>
              </a:ext>
            </a:extLst>
          </p:cNvPr>
          <p:cNvSpPr>
            <a:spLocks xmlns:a="http://schemas.openxmlformats.org/drawingml/2006/main" noGrp="1"/>
          </p:cNvSpPr>
          <p:nvPr/>
        </p:nvSpPr>
        <p:spPr>
          <a:xfrm xmlns:a="http://schemas.openxmlformats.org/drawingml/2006/main">
            <a:off x="1524000" y="6953250"/>
            <a:ext cx="2095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0">
                <a:solidFill>
                  <a:srgbClr val="BBBEB1"/>
                </a:solidFill>
                <a:latin typeface="Arial"/>
                <a:ea typeface="Arial"/>
                <a:cs typeface="Arial"/>
              </a:defRPr>
            </a:pPr>
            <a:r>
              <a:rPr sz="3900" b="0">
                <a:solidFill>
                  <a:srgbClr val="BBBEB1"/>
                </a:solidFill>
                <a:latin typeface="Arial"/>
                <a:ea typeface="Arial"/>
                <a:cs typeface="Arial"/>
              </a:rPr>
              <a:t>Check the terms:</a:t>
            </a:r>
          </a:p>
        </p:txBody>
      </p:sp>
      <p:sp>
        <p:nvSpPr>
          <p:cNvPr id="5" name="">
            <a:extLst xmlns:a="http://schemas.openxmlformats.org/drawingml/2006/main">
              <a:ext uri="{FF2B5EF4-FFF2-40B4-BE49-F238E27FC236}">
                <a16:creationId xmlns:a16="http://schemas.microsoft.com/office/drawing/2014/main" id="{2FFFAD27-7C4E-414F-8C30-188185CD5E22}"/>
              </a:ext>
            </a:extLst>
          </p:cNvPr>
          <p:cNvSpPr>
            <a:spLocks xmlns:a="http://schemas.openxmlformats.org/drawingml/2006/main" noGrp="1"/>
          </p:cNvSpPr>
          <p:nvPr/>
        </p:nvSpPr>
        <p:spPr>
          <a:xfrm xmlns:a="http://schemas.openxmlformats.org/drawingml/2006/main">
            <a:off x="1524000" y="8134350"/>
            <a:ext cx="20955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406400" indent="-228600" algn="l">
              <a:spcAft>
                <a:spcPts val="1800"/>
              </a:spcAft>
              <a:buChar char="•"/>
              <a:defRPr sz="4500" b="0">
                <a:solidFill>
                  <a:srgbClr val="EEECE3"/>
                </a:solidFill>
                <a:latin typeface="Arial"/>
                <a:ea typeface="Arial"/>
                <a:cs typeface="Arial"/>
              </a:defRPr>
            </a:pPr>
            <a:r>
              <a:t>What may the holder do with the artwork?</a:t>
            </a:r>
          </a:p>
          <a:p xmlns:a="http://schemas.openxmlformats.org/drawingml/2006/main">
            <a:pPr marL="406400" indent="-228600" algn="l">
              <a:spcAft>
                <a:spcPts val="1800"/>
              </a:spcAft>
              <a:buChar char="•"/>
              <a:defRPr sz="4500" b="0">
                <a:solidFill>
                  <a:srgbClr val="EEECE3"/>
                </a:solidFill>
                <a:latin typeface="Arial"/>
                <a:ea typeface="Arial"/>
                <a:cs typeface="Arial"/>
              </a:defRPr>
            </a:pPr>
            <a:r>
              <a:t>Who provides any promised access or service?</a:t>
            </a:r>
          </a:p>
          <a:p xmlns:a="http://schemas.openxmlformats.org/drawingml/2006/main">
            <a:pPr marL="406400" indent="-228600" algn="l">
              <a:spcAft>
                <a:spcPts val="1800"/>
              </a:spcAft>
              <a:buChar char="•"/>
              <a:defRPr sz="4500" b="0">
                <a:solidFill>
                  <a:srgbClr val="EEECE3"/>
                </a:solidFill>
                <a:latin typeface="Arial"/>
                <a:ea typeface="Arial"/>
                <a:cs typeface="Arial"/>
              </a:defRPr>
            </a:pPr>
            <a:r>
              <a:t>What happens when the token changes hands?</a:t>
            </a:r>
          </a:p>
        </p:txBody>
      </p:sp>
    </p:spTree>
    <p:extLst>
      <p:ext uri="{BB962C8B-B14F-4D97-AF65-F5344CB8AC3E}">
        <p14:creationId xmlns:p14="http://schemas.microsoft.com/office/powerpoint/2010/main" val="2023754713"/>
      </p:ext>
    </p:extLst>
  </p:cSld>
</p:sld>
</file>

<file path=ppt/slides/slide12.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740092-B34E-4504-9AFA-669136839755}"/>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What am I authorizing?</a:t>
            </a:r>
          </a:p>
        </p:txBody>
      </p:sp>
      <p:sp>
        <p:nvSpPr>
          <p:cNvPr id="2" name="">
            <a:extLst xmlns:a="http://schemas.openxmlformats.org/drawingml/2006/main">
              <a:ext uri="{FF2B5EF4-FFF2-40B4-BE49-F238E27FC236}">
                <a16:creationId xmlns:a16="http://schemas.microsoft.com/office/drawing/2014/main" id="{33E78AFC-CB8B-4EA9-BAE6-9F9939BEE079}"/>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944044A6-F013-4EC1-AAB9-DBDB53018D7B}"/>
              </a:ext>
            </a:extLst>
          </p:cNvPr>
          <p:cNvSpPr>
            <a:spLocks xmlns:a="http://schemas.openxmlformats.org/drawingml/2006/main" noGrp="1"/>
          </p:cNvSpPr>
          <p:nvPr/>
        </p:nvSpPr>
        <p:spPr>
          <a:xfrm xmlns:a="http://schemas.openxmlformats.org/drawingml/2006/main">
            <a:off x="1524000" y="3524250"/>
            <a:ext cx="20955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100" b="0">
                <a:solidFill>
                  <a:srgbClr val="EEECE3"/>
                </a:solidFill>
                <a:latin typeface="Arial"/>
                <a:ea typeface="Arial"/>
                <a:cs typeface="Arial"/>
              </a:defRPr>
            </a:pPr>
            <a:r>
              <a:rPr sz="5100" b="0">
                <a:solidFill>
                  <a:srgbClr val="EEECE3"/>
                </a:solidFill>
                <a:latin typeface="Arial"/>
                <a:ea typeface="Arial"/>
                <a:cs typeface="Arial"/>
              </a:rPr>
              <a:t>Connecting, signing, approving, and transferring can do different things.</a:t>
            </a:r>
          </a:p>
        </p:txBody>
      </p:sp>
      <p:sp>
        <p:nvSpPr>
          <p:cNvPr id="4" name="">
            <a:extLst xmlns:a="http://schemas.openxmlformats.org/drawingml/2006/main">
              <a:ext uri="{FF2B5EF4-FFF2-40B4-BE49-F238E27FC236}">
                <a16:creationId xmlns:a16="http://schemas.microsoft.com/office/drawing/2014/main" id="{FEBB637C-E788-4B5F-84B6-6D977981195A}"/>
              </a:ext>
            </a:extLst>
          </p:cNvPr>
          <p:cNvSpPr>
            <a:spLocks xmlns:a="http://schemas.openxmlformats.org/drawingml/2006/main" noGrp="1"/>
          </p:cNvSpPr>
          <p:nvPr/>
        </p:nvSpPr>
        <p:spPr>
          <a:xfrm xmlns:a="http://schemas.openxmlformats.org/drawingml/2006/main">
            <a:off x="1524000" y="6477000"/>
            <a:ext cx="2095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BBBEB1"/>
                </a:solidFill>
                <a:latin typeface="Arial"/>
                <a:ea typeface="Arial"/>
                <a:cs typeface="Arial"/>
              </a:defRPr>
            </a:pPr>
            <a:r>
              <a:rPr sz="3750" b="0">
                <a:solidFill>
                  <a:srgbClr val="BBBEB1"/>
                </a:solidFill>
                <a:latin typeface="Arial"/>
                <a:ea typeface="Arial"/>
                <a:cs typeface="Arial"/>
              </a:rPr>
              <a:t>Before authorizing:</a:t>
            </a:r>
          </a:p>
        </p:txBody>
      </p:sp>
      <p:sp>
        <p:nvSpPr>
          <p:cNvPr id="5" name="">
            <a:extLst xmlns:a="http://schemas.openxmlformats.org/drawingml/2006/main">
              <a:ext uri="{FF2B5EF4-FFF2-40B4-BE49-F238E27FC236}">
                <a16:creationId xmlns:a16="http://schemas.microsoft.com/office/drawing/2014/main" id="{B8DDB747-598A-4490-A4B1-CA79D71C3126}"/>
              </a:ext>
            </a:extLst>
          </p:cNvPr>
          <p:cNvSpPr>
            <a:spLocks xmlns:a="http://schemas.openxmlformats.org/drawingml/2006/main" noGrp="1"/>
          </p:cNvSpPr>
          <p:nvPr/>
        </p:nvSpPr>
        <p:spPr>
          <a:xfrm xmlns:a="http://schemas.openxmlformats.org/drawingml/2006/main">
            <a:off x="1524000" y="7620000"/>
            <a:ext cx="209550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406400" indent="-228600" algn="l">
              <a:spcAft>
                <a:spcPts val="1800"/>
              </a:spcAft>
              <a:buChar char="•"/>
              <a:defRPr sz="4500" b="0">
                <a:solidFill>
                  <a:srgbClr val="EEECE3"/>
                </a:solidFill>
                <a:latin typeface="Arial"/>
                <a:ea typeface="Arial"/>
                <a:cs typeface="Arial"/>
              </a:defRPr>
            </a:pPr>
            <a:r>
              <a:t>Check the site and requested action.</a:t>
            </a:r>
          </a:p>
          <a:p xmlns:a="http://schemas.openxmlformats.org/drawingml/2006/main">
            <a:pPr marL="406400" indent="-228600" algn="l">
              <a:spcAft>
                <a:spcPts val="1800"/>
              </a:spcAft>
              <a:buChar char="•"/>
              <a:defRPr sz="4500" b="0">
                <a:solidFill>
                  <a:srgbClr val="EEECE3"/>
                </a:solidFill>
                <a:latin typeface="Arial"/>
                <a:ea typeface="Arial"/>
                <a:cs typeface="Arial"/>
              </a:defRPr>
            </a:pPr>
            <a:r>
              <a:t>Identify the assets and permissions involved.</a:t>
            </a:r>
          </a:p>
          <a:p xmlns:a="http://schemas.openxmlformats.org/drawingml/2006/main">
            <a:pPr marL="406400" indent="-228600" algn="l">
              <a:spcAft>
                <a:spcPts val="1800"/>
              </a:spcAft>
              <a:buChar char="•"/>
              <a:defRPr sz="4500" b="0">
                <a:solidFill>
                  <a:srgbClr val="EEECE3"/>
                </a:solidFill>
                <a:latin typeface="Arial"/>
                <a:ea typeface="Arial"/>
                <a:cs typeface="Arial"/>
              </a:defRPr>
            </a:pPr>
            <a:r>
              <a:t>Stop if the request is unclear.</a:t>
            </a:r>
          </a:p>
        </p:txBody>
      </p:sp>
      <p:sp>
        <p:nvSpPr>
          <p:cNvPr id="6" name="">
            <a:extLst xmlns:a="http://schemas.openxmlformats.org/drawingml/2006/main">
              <a:ext uri="{FF2B5EF4-FFF2-40B4-BE49-F238E27FC236}">
                <a16:creationId xmlns:a16="http://schemas.microsoft.com/office/drawing/2014/main" id="{0AC169FC-5FE7-4941-B700-3BA5F5100193}"/>
              </a:ext>
            </a:extLst>
          </p:cNvPr>
          <p:cNvSpPr>
            <a:spLocks xmlns:a="http://schemas.openxmlformats.org/drawingml/2006/main" noGrp="1"/>
          </p:cNvSpPr>
          <p:nvPr/>
        </p:nvSpPr>
        <p:spPr>
          <a:xfrm xmlns:a="http://schemas.openxmlformats.org/drawingml/2006/main">
            <a:off x="1524000" y="11715750"/>
            <a:ext cx="20955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0">
                <a:solidFill>
                  <a:srgbClr val="C4C898"/>
                </a:solidFill>
                <a:latin typeface="Arial"/>
                <a:ea typeface="Arial"/>
                <a:cs typeface="Arial"/>
              </a:defRPr>
            </a:pPr>
            <a:r>
              <a:rPr sz="4050" b="0">
                <a:solidFill>
                  <a:srgbClr val="C4C898"/>
                </a:solidFill>
                <a:latin typeface="Arial"/>
                <a:ea typeface="Arial"/>
                <a:cs typeface="Arial"/>
              </a:rPr>
              <a:t>A request with no gas fee can still carry risk.</a:t>
            </a:r>
          </a:p>
        </p:txBody>
      </p:sp>
    </p:spTree>
    <p:extLst>
      <p:ext uri="{BB962C8B-B14F-4D97-AF65-F5344CB8AC3E}">
        <p14:creationId xmlns:p14="http://schemas.microsoft.com/office/powerpoint/2010/main" val="915927494"/>
      </p:ext>
    </p:extLst>
  </p:cSld>
</p:sld>
</file>

<file path=ppt/slides/slide13.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87877D-F5CA-47FC-901E-C610EEBA0110}"/>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Evidence, promises, and unknowns</a:t>
            </a:r>
          </a:p>
        </p:txBody>
      </p:sp>
      <p:sp>
        <p:nvSpPr>
          <p:cNvPr id="2" name="">
            <a:extLst xmlns:a="http://schemas.openxmlformats.org/drawingml/2006/main">
              <a:ext uri="{FF2B5EF4-FFF2-40B4-BE49-F238E27FC236}">
                <a16:creationId xmlns:a16="http://schemas.microsoft.com/office/drawing/2014/main" id="{D30812DB-FD66-4A64-8184-A4D0EBBADBCC}"/>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169172A3-1F3D-4F25-AD19-D0D8C3751A4E}"/>
              </a:ext>
            </a:extLst>
          </p:cNvPr>
          <p:cNvSpPr>
            <a:spLocks xmlns:a="http://schemas.openxmlformats.org/drawingml/2006/main" noGrp="1"/>
          </p:cNvSpPr>
          <p:nvPr/>
        </p:nvSpPr>
        <p:spPr>
          <a:xfrm xmlns:a="http://schemas.openxmlformats.org/drawingml/2006/main">
            <a:off x="1524000" y="3714750"/>
            <a:ext cx="1905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0">
                <a:solidFill>
                  <a:srgbClr val="BBBEB1"/>
                </a:solidFill>
                <a:latin typeface="Arial"/>
                <a:ea typeface="Arial"/>
                <a:cs typeface="Arial"/>
              </a:defRPr>
            </a:pPr>
            <a:r>
              <a:rPr sz="3450" b="0">
                <a:solidFill>
                  <a:srgbClr val="BBBEB1"/>
                </a:solidFill>
                <a:latin typeface="Arial"/>
                <a:ea typeface="Arial"/>
                <a:cs typeface="Arial"/>
              </a:rPr>
              <a:t>Illustrative project exercise</a:t>
            </a:r>
          </a:p>
        </p:txBody>
      </p:sp>
      <p:sp>
        <p:nvSpPr>
          <p:cNvPr id="4" name="">
            <a:extLst xmlns:a="http://schemas.openxmlformats.org/drawingml/2006/main">
              <a:ext uri="{FF2B5EF4-FFF2-40B4-BE49-F238E27FC236}">
                <a16:creationId xmlns:a16="http://schemas.microsoft.com/office/drawing/2014/main" id="{3446867A-7345-4511-B647-7810D1035FE5}"/>
              </a:ext>
            </a:extLst>
          </p:cNvPr>
          <p:cNvSpPr>
            <a:spLocks xmlns:a="http://schemas.openxmlformats.org/drawingml/2006/main" noGrp="1"/>
          </p:cNvSpPr>
          <p:nvPr/>
        </p:nvSpPr>
        <p:spPr>
          <a:xfrm xmlns:a="http://schemas.openxmlformats.org/drawingml/2006/main">
            <a:off x="1524000" y="5143500"/>
            <a:ext cx="9334500" cy="552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0">
                <a:solidFill>
                  <a:srgbClr val="EEECE3"/>
                </a:solidFill>
                <a:latin typeface="Arial"/>
                <a:ea typeface="Arial"/>
                <a:cs typeface="Arial"/>
              </a:defRPr>
            </a:pPr>
            <a:r>
              <a:rPr sz="5400" b="0">
                <a:solidFill>
                  <a:srgbClr val="EEECE3"/>
                </a:solidFill>
                <a:latin typeface="Arial"/>
                <a:ea typeface="Arial"/>
                <a:cs typeface="Arial"/>
              </a:rPr>
              <a:t>A collection page shows artwork, a contract link, a price, and a promise of future events.</a:t>
            </a:r>
          </a:p>
        </p:txBody>
      </p:sp>
      <p:sp>
        <p:nvSpPr>
          <p:cNvPr id="5" name="">
            <a:extLst xmlns:a="http://schemas.openxmlformats.org/drawingml/2006/main">
              <a:ext uri="{FF2B5EF4-FFF2-40B4-BE49-F238E27FC236}">
                <a16:creationId xmlns:a16="http://schemas.microsoft.com/office/drawing/2014/main" id="{99F3F799-7187-48DB-A502-EAF9E87D5F83}"/>
              </a:ext>
            </a:extLst>
          </p:cNvPr>
          <p:cNvSpPr>
            <a:spLocks xmlns:a="http://schemas.openxmlformats.org/drawingml/2006/main" noGrp="1"/>
          </p:cNvSpPr>
          <p:nvPr/>
        </p:nvSpPr>
        <p:spPr>
          <a:xfrm xmlns:a="http://schemas.openxmlformats.org/drawingml/2006/main">
            <a:off x="13144500" y="5143500"/>
            <a:ext cx="9715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0">
                <a:solidFill>
                  <a:srgbClr val="C4C898"/>
                </a:solidFill>
                <a:latin typeface="Arial"/>
                <a:ea typeface="Arial"/>
                <a:cs typeface="Arial"/>
              </a:defRPr>
            </a:pPr>
            <a:r>
              <a:rPr sz="5400" b="0">
                <a:solidFill>
                  <a:srgbClr val="C4C898"/>
                </a:solidFill>
                <a:latin typeface="Arial"/>
                <a:ea typeface="Arial"/>
                <a:cs typeface="Arial"/>
              </a:rPr>
              <a:t>Which statements can you verify from that page?</a:t>
            </a:r>
          </a:p>
        </p:txBody>
      </p:sp>
      <p:sp>
        <p:nvSpPr>
          <p:cNvPr id="6" name="">
            <a:extLst xmlns:a="http://schemas.openxmlformats.org/drawingml/2006/main">
              <a:ext uri="{FF2B5EF4-FFF2-40B4-BE49-F238E27FC236}">
                <a16:creationId xmlns:a16="http://schemas.microsoft.com/office/drawing/2014/main" id="{81FECB22-BD65-4F73-8653-D7644A3B1F7C}"/>
              </a:ext>
            </a:extLst>
          </p:cNvPr>
          <p:cNvSpPr>
            <a:spLocks xmlns:a="http://schemas.openxmlformats.org/drawingml/2006/main" noGrp="1"/>
          </p:cNvSpPr>
          <p:nvPr/>
        </p:nvSpPr>
        <p:spPr>
          <a:xfrm xmlns:a="http://schemas.openxmlformats.org/drawingml/2006/main">
            <a:off x="13144500" y="9429750"/>
            <a:ext cx="9715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100" b="0">
                <a:solidFill>
                  <a:srgbClr val="EEECE3"/>
                </a:solidFill>
                <a:latin typeface="Arial"/>
                <a:ea typeface="Arial"/>
                <a:cs typeface="Arial"/>
              </a:defRPr>
            </a:pPr>
            <a:r>
              <a:rPr sz="5100" b="0">
                <a:solidFill>
                  <a:srgbClr val="EEECE3"/>
                </a:solidFill>
                <a:latin typeface="Arial"/>
                <a:ea typeface="Arial"/>
                <a:cs typeface="Arial"/>
              </a:rPr>
              <a:t>What would you inspect next?</a:t>
            </a:r>
          </a:p>
        </p:txBody>
      </p:sp>
    </p:spTree>
    <p:extLst>
      <p:ext uri="{BB962C8B-B14F-4D97-AF65-F5344CB8AC3E}">
        <p14:creationId xmlns:p14="http://schemas.microsoft.com/office/powerpoint/2010/main" val="2070636905"/>
      </p:ext>
    </p:extLst>
  </p:cSld>
</p:sld>
</file>

<file path=ppt/slides/slide14.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1830C0-858B-4221-B677-9CB9067B3F12}"/>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How to build a community</a:t>
            </a:r>
          </a:p>
        </p:txBody>
      </p:sp>
      <p:sp>
        <p:nvSpPr>
          <p:cNvPr id="2" name="">
            <a:extLst xmlns:a="http://schemas.openxmlformats.org/drawingml/2006/main">
              <a:ext uri="{FF2B5EF4-FFF2-40B4-BE49-F238E27FC236}">
                <a16:creationId xmlns:a16="http://schemas.microsoft.com/office/drawing/2014/main" id="{4B2C3CBE-DC89-4D4D-A12C-D8262DE33A53}"/>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18D5A687-14EB-4416-A652-2C21A1756465}"/>
              </a:ext>
            </a:extLst>
          </p:cNvPr>
          <p:cNvSpPr>
            <a:spLocks xmlns:a="http://schemas.openxmlformats.org/drawingml/2006/main" noGrp="1"/>
          </p:cNvSpPr>
          <p:nvPr/>
        </p:nvSpPr>
        <p:spPr>
          <a:xfrm xmlns:a="http://schemas.openxmlformats.org/drawingml/2006/main">
            <a:off x="1524000" y="3524250"/>
            <a:ext cx="20955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450" b="0">
                <a:solidFill>
                  <a:srgbClr val="EEECE3"/>
                </a:solidFill>
                <a:latin typeface="Arial"/>
                <a:ea typeface="Arial"/>
                <a:cs typeface="Arial"/>
              </a:defRPr>
            </a:pPr>
            <a:r>
              <a:rPr sz="6450" b="0">
                <a:solidFill>
                  <a:srgbClr val="EEECE3"/>
                </a:solidFill>
                <a:latin typeface="Arial"/>
                <a:ea typeface="Arial"/>
                <a:cs typeface="Arial"/>
              </a:rPr>
              <a:t>What would people want to do together here?</a:t>
            </a:r>
          </a:p>
        </p:txBody>
      </p:sp>
      <p:sp>
        <p:nvSpPr>
          <p:cNvPr id="4" name="">
            <a:extLst xmlns:a="http://schemas.openxmlformats.org/drawingml/2006/main">
              <a:ext uri="{FF2B5EF4-FFF2-40B4-BE49-F238E27FC236}">
                <a16:creationId xmlns:a16="http://schemas.microsoft.com/office/drawing/2014/main" id="{C7E1606A-399D-4E5D-995B-2F9696F6C5DF}"/>
              </a:ext>
            </a:extLst>
          </p:cNvPr>
          <p:cNvSpPr>
            <a:spLocks xmlns:a="http://schemas.openxmlformats.org/drawingml/2006/main" noGrp="1"/>
          </p:cNvSpPr>
          <p:nvPr/>
        </p:nvSpPr>
        <p:spPr>
          <a:xfrm xmlns:a="http://schemas.openxmlformats.org/drawingml/2006/main">
            <a:off x="1524000" y="6572250"/>
            <a:ext cx="20955000" cy="438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406400" indent="-228600" algn="l">
              <a:spcAft>
                <a:spcPts val="1800"/>
              </a:spcAft>
              <a:buChar char="•"/>
              <a:defRPr sz="4350" b="0">
                <a:solidFill>
                  <a:srgbClr val="EEECE3"/>
                </a:solidFill>
                <a:latin typeface="Arial"/>
                <a:ea typeface="Arial"/>
                <a:cs typeface="Arial"/>
              </a:defRPr>
            </a:pPr>
            <a:r>
              <a:t>Give people a meaningful way to participate.</a:t>
            </a:r>
          </a:p>
          <a:p xmlns:a="http://schemas.openxmlformats.org/drawingml/2006/main">
            <a:pPr marL="406400" indent="-228600" algn="l">
              <a:spcAft>
                <a:spcPts val="1800"/>
              </a:spcAft>
              <a:buChar char="•"/>
              <a:defRPr sz="4350" b="0">
                <a:solidFill>
                  <a:srgbClr val="EEECE3"/>
                </a:solidFill>
                <a:latin typeface="Arial"/>
                <a:ea typeface="Arial"/>
                <a:cs typeface="Arial"/>
              </a:defRPr>
            </a:pPr>
            <a:r>
              <a:t>State what the project can deliver.</a:t>
            </a:r>
          </a:p>
          <a:p xmlns:a="http://schemas.openxmlformats.org/drawingml/2006/main">
            <a:pPr marL="406400" indent="-228600" algn="l">
              <a:spcAft>
                <a:spcPts val="1800"/>
              </a:spcAft>
              <a:buChar char="•"/>
              <a:defRPr sz="4350" b="0">
                <a:solidFill>
                  <a:srgbClr val="EEECE3"/>
                </a:solidFill>
                <a:latin typeface="Arial"/>
                <a:ea typeface="Arial"/>
                <a:cs typeface="Arial"/>
              </a:defRPr>
            </a:pPr>
            <a:r>
              <a:t>Explain who handles questions and problems.</a:t>
            </a:r>
          </a:p>
          <a:p xmlns:a="http://schemas.openxmlformats.org/drawingml/2006/main">
            <a:pPr marL="406400" indent="-228600" algn="l">
              <a:spcAft>
                <a:spcPts val="1800"/>
              </a:spcAft>
              <a:buChar char="•"/>
              <a:defRPr sz="4350" b="0">
                <a:solidFill>
                  <a:srgbClr val="EEECE3"/>
                </a:solidFill>
                <a:latin typeface="Arial"/>
                <a:ea typeface="Arial"/>
                <a:cs typeface="Arial"/>
              </a:defRPr>
            </a:pPr>
            <a:r>
              <a:t>Make changes and limitations visible.</a:t>
            </a:r>
          </a:p>
        </p:txBody>
      </p:sp>
      <p:sp>
        <p:nvSpPr>
          <p:cNvPr id="5" name="">
            <a:extLst xmlns:a="http://schemas.openxmlformats.org/drawingml/2006/main">
              <a:ext uri="{FF2B5EF4-FFF2-40B4-BE49-F238E27FC236}">
                <a16:creationId xmlns:a16="http://schemas.microsoft.com/office/drawing/2014/main" id="{429FA841-3832-4AC0-B453-2482FA919ACB}"/>
              </a:ext>
            </a:extLst>
          </p:cNvPr>
          <p:cNvSpPr>
            <a:spLocks xmlns:a="http://schemas.openxmlformats.org/drawingml/2006/main" noGrp="1"/>
          </p:cNvSpPr>
          <p:nvPr/>
        </p:nvSpPr>
        <p:spPr>
          <a:xfrm xmlns:a="http://schemas.openxmlformats.org/drawingml/2006/main">
            <a:off x="1524000" y="11811000"/>
            <a:ext cx="2095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0">
                <a:solidFill>
                  <a:srgbClr val="C4C898"/>
                </a:solidFill>
                <a:latin typeface="Arial"/>
                <a:ea typeface="Arial"/>
                <a:cs typeface="Arial"/>
              </a:defRPr>
            </a:pPr>
            <a:r>
              <a:rPr sz="3900" b="0">
                <a:solidFill>
                  <a:srgbClr val="C4C898"/>
                </a:solidFill>
                <a:latin typeface="Arial"/>
                <a:ea typeface="Arial"/>
                <a:cs typeface="Arial"/>
              </a:rPr>
              <a:t>Contribute something you would want to exist.</a:t>
            </a:r>
          </a:p>
        </p:txBody>
      </p:sp>
    </p:spTree>
    <p:extLst>
      <p:ext uri="{BB962C8B-B14F-4D97-AF65-F5344CB8AC3E}">
        <p14:creationId xmlns:p14="http://schemas.microsoft.com/office/powerpoint/2010/main" val="1772261959"/>
      </p:ext>
    </p:extLst>
  </p:cSld>
</p:sld>
</file>

<file path=ppt/slides/slide15.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4CD39E-CF4D-4DC8-9248-CC8FE48A0BB9}"/>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What can you explain now?</a:t>
            </a:r>
          </a:p>
        </p:txBody>
      </p:sp>
      <p:sp>
        <p:nvSpPr>
          <p:cNvPr id="2" name="">
            <a:extLst xmlns:a="http://schemas.openxmlformats.org/drawingml/2006/main">
              <a:ext uri="{FF2B5EF4-FFF2-40B4-BE49-F238E27FC236}">
                <a16:creationId xmlns:a16="http://schemas.microsoft.com/office/drawing/2014/main" id="{B59E719C-3BCC-4885-9DB1-7886CFA320E7}"/>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425A0E1C-A4DE-4917-9A01-A4E060D0EC8D}"/>
              </a:ext>
            </a:extLst>
          </p:cNvPr>
          <p:cNvSpPr>
            <a:spLocks xmlns:a="http://schemas.openxmlformats.org/drawingml/2006/main" noGrp="1"/>
          </p:cNvSpPr>
          <p:nvPr/>
        </p:nvSpPr>
        <p:spPr>
          <a:xfrm xmlns:a="http://schemas.openxmlformats.org/drawingml/2006/main">
            <a:off x="1524000" y="3905250"/>
            <a:ext cx="95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000" b="0">
                <a:solidFill>
                  <a:srgbClr val="C4C898"/>
                </a:solidFill>
                <a:latin typeface="Arial"/>
                <a:ea typeface="Arial"/>
                <a:cs typeface="Arial"/>
              </a:defRPr>
            </a:pPr>
            <a:r>
              <a:rPr sz="6000" b="0">
                <a:solidFill>
                  <a:srgbClr val="C4C898"/>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0582BDA3-7BF6-4173-9B09-A616E718C81B}"/>
              </a:ext>
            </a:extLst>
          </p:cNvPr>
          <p:cNvSpPr>
            <a:spLocks xmlns:a="http://schemas.openxmlformats.org/drawingml/2006/main" noGrp="1"/>
          </p:cNvSpPr>
          <p:nvPr/>
        </p:nvSpPr>
        <p:spPr>
          <a:xfrm xmlns:a="http://schemas.openxmlformats.org/drawingml/2006/main">
            <a:off x="3143250" y="3905250"/>
            <a:ext cx="19621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0">
                <a:solidFill>
                  <a:srgbClr val="EEECE3"/>
                </a:solidFill>
                <a:latin typeface="Arial"/>
                <a:ea typeface="Arial"/>
                <a:cs typeface="Arial"/>
              </a:defRPr>
            </a:pPr>
            <a:r>
              <a:rPr sz="4800" b="0">
                <a:solidFill>
                  <a:srgbClr val="EEECE3"/>
                </a:solidFill>
                <a:latin typeface="Arial"/>
                <a:ea typeface="Arial"/>
                <a:cs typeface="Arial"/>
              </a:rPr>
              <a:t>How does a token relate to its image?</a:t>
            </a:r>
          </a:p>
        </p:txBody>
      </p:sp>
      <p:sp>
        <p:nvSpPr>
          <p:cNvPr id="5" name="">
            <a:extLst xmlns:a="http://schemas.openxmlformats.org/drawingml/2006/main">
              <a:ext uri="{FF2B5EF4-FFF2-40B4-BE49-F238E27FC236}">
                <a16:creationId xmlns:a16="http://schemas.microsoft.com/office/drawing/2014/main" id="{00A089F0-E80F-4BC6-8587-0C292A38A0D2}"/>
              </a:ext>
            </a:extLst>
          </p:cNvPr>
          <p:cNvSpPr>
            <a:spLocks xmlns:a="http://schemas.openxmlformats.org/drawingml/2006/main" noGrp="1"/>
          </p:cNvSpPr>
          <p:nvPr/>
        </p:nvSpPr>
        <p:spPr>
          <a:xfrm xmlns:a="http://schemas.openxmlformats.org/drawingml/2006/main">
            <a:off x="1524000" y="6038850"/>
            <a:ext cx="95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000" b="0">
                <a:solidFill>
                  <a:srgbClr val="C4C898"/>
                </a:solidFill>
                <a:latin typeface="Arial"/>
                <a:ea typeface="Arial"/>
                <a:cs typeface="Arial"/>
              </a:defRPr>
            </a:pPr>
            <a:r>
              <a:rPr sz="6000" b="0">
                <a:solidFill>
                  <a:srgbClr val="C4C898"/>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6EBA99D6-5F58-4368-8A79-1E72F9FDC108}"/>
              </a:ext>
            </a:extLst>
          </p:cNvPr>
          <p:cNvSpPr>
            <a:spLocks xmlns:a="http://schemas.openxmlformats.org/drawingml/2006/main" noGrp="1"/>
          </p:cNvSpPr>
          <p:nvPr/>
        </p:nvSpPr>
        <p:spPr>
          <a:xfrm xmlns:a="http://schemas.openxmlformats.org/drawingml/2006/main">
            <a:off x="3143250" y="6038850"/>
            <a:ext cx="19621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0">
                <a:solidFill>
                  <a:srgbClr val="EEECE3"/>
                </a:solidFill>
                <a:latin typeface="Arial"/>
                <a:ea typeface="Arial"/>
                <a:cs typeface="Arial"/>
              </a:defRPr>
            </a:pPr>
            <a:r>
              <a:rPr sz="4800" b="0">
                <a:solidFill>
                  <a:srgbClr val="EEECE3"/>
                </a:solidFill>
                <a:latin typeface="Arial"/>
                <a:ea typeface="Arial"/>
                <a:cs typeface="Arial"/>
              </a:rPr>
              <a:t>What might a wallet signature authorize?</a:t>
            </a:r>
          </a:p>
        </p:txBody>
      </p:sp>
      <p:sp>
        <p:nvSpPr>
          <p:cNvPr id="7" name="">
            <a:extLst xmlns:a="http://schemas.openxmlformats.org/drawingml/2006/main">
              <a:ext uri="{FF2B5EF4-FFF2-40B4-BE49-F238E27FC236}">
                <a16:creationId xmlns:a16="http://schemas.microsoft.com/office/drawing/2014/main" id="{E5140771-19D2-460B-9D56-F3A2EBD96755}"/>
              </a:ext>
            </a:extLst>
          </p:cNvPr>
          <p:cNvSpPr>
            <a:spLocks xmlns:a="http://schemas.openxmlformats.org/drawingml/2006/main" noGrp="1"/>
          </p:cNvSpPr>
          <p:nvPr/>
        </p:nvSpPr>
        <p:spPr>
          <a:xfrm xmlns:a="http://schemas.openxmlformats.org/drawingml/2006/main">
            <a:off x="1524000" y="8172450"/>
            <a:ext cx="95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000" b="0">
                <a:solidFill>
                  <a:srgbClr val="C4C898"/>
                </a:solidFill>
                <a:latin typeface="Arial"/>
                <a:ea typeface="Arial"/>
                <a:cs typeface="Arial"/>
              </a:defRPr>
            </a:pPr>
            <a:r>
              <a:rPr sz="6000" b="0">
                <a:solidFill>
                  <a:srgbClr val="C4C898"/>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66C5D070-C89B-43C8-8803-604CBBAD2093}"/>
              </a:ext>
            </a:extLst>
          </p:cNvPr>
          <p:cNvSpPr>
            <a:spLocks xmlns:a="http://schemas.openxmlformats.org/drawingml/2006/main" noGrp="1"/>
          </p:cNvSpPr>
          <p:nvPr/>
        </p:nvSpPr>
        <p:spPr>
          <a:xfrm xmlns:a="http://schemas.openxmlformats.org/drawingml/2006/main">
            <a:off x="3143250" y="8172450"/>
            <a:ext cx="19621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0">
                <a:solidFill>
                  <a:srgbClr val="EEECE3"/>
                </a:solidFill>
                <a:latin typeface="Arial"/>
                <a:ea typeface="Arial"/>
                <a:cs typeface="Arial"/>
              </a:defRPr>
            </a:pPr>
            <a:r>
              <a:rPr sz="4800" b="0">
                <a:solidFill>
                  <a:srgbClr val="EEECE3"/>
                </a:solidFill>
                <a:latin typeface="Arial"/>
                <a:ea typeface="Arial"/>
                <a:cs typeface="Arial"/>
              </a:rPr>
              <a:t>What does a project's contract prove, and what remains uncertain?</a:t>
            </a:r>
          </a:p>
        </p:txBody>
      </p:sp>
      <p:sp>
        <p:nvSpPr>
          <p:cNvPr id="9" name="">
            <a:extLst xmlns:a="http://schemas.openxmlformats.org/drawingml/2006/main">
              <a:ext uri="{FF2B5EF4-FFF2-40B4-BE49-F238E27FC236}">
                <a16:creationId xmlns:a16="http://schemas.microsoft.com/office/drawing/2014/main" id="{BBD22340-645F-4C75-A7E7-467327F706BC}"/>
              </a:ext>
            </a:extLst>
          </p:cNvPr>
          <p:cNvSpPr>
            <a:spLocks xmlns:a="http://schemas.openxmlformats.org/drawingml/2006/main" noGrp="1"/>
          </p:cNvSpPr>
          <p:nvPr/>
        </p:nvSpPr>
        <p:spPr>
          <a:xfrm xmlns:a="http://schemas.openxmlformats.org/drawingml/2006/main">
            <a:off x="1524000" y="11201400"/>
            <a:ext cx="2095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0">
                <a:solidFill>
                  <a:srgbClr val="C4C898"/>
                </a:solidFill>
                <a:latin typeface="Arial"/>
                <a:ea typeface="Arial"/>
                <a:cs typeface="Arial"/>
              </a:defRPr>
            </a:pPr>
            <a:r>
              <a:rPr sz="4650" b="0">
                <a:solidFill>
                  <a:srgbClr val="C4C898"/>
                </a:solidFill>
                <a:latin typeface="Arial"/>
                <a:ea typeface="Arial"/>
                <a:cs typeface="Arial"/>
              </a:rPr>
              <a:t>What would you investigate before participating?</a:t>
            </a:r>
          </a:p>
        </p:txBody>
      </p:sp>
    </p:spTree>
    <p:extLst>
      <p:ext uri="{BB962C8B-B14F-4D97-AF65-F5344CB8AC3E}">
        <p14:creationId xmlns:p14="http://schemas.microsoft.com/office/powerpoint/2010/main" val="953192275"/>
      </p:ext>
    </p:extLst>
  </p:cSld>
</p:sld>
</file>

<file path=ppt/slides/slide16.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55940A-7AE0-4103-9C31-BA2788CEE7FF}"/>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Sources and further reading</a:t>
            </a:r>
          </a:p>
        </p:txBody>
      </p:sp>
      <p:sp>
        <p:nvSpPr>
          <p:cNvPr id="2" name="">
            <a:extLst xmlns:a="http://schemas.openxmlformats.org/drawingml/2006/main">
              <a:ext uri="{FF2B5EF4-FFF2-40B4-BE49-F238E27FC236}">
                <a16:creationId xmlns:a16="http://schemas.microsoft.com/office/drawing/2014/main" id="{D9FC3A3C-9362-40E2-814A-44F60D7E0E1C}"/>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66CA9CFA-E196-4474-84B0-D166ADFBFD9F}"/>
              </a:ext>
            </a:extLst>
          </p:cNvPr>
          <p:cNvSpPr>
            <a:spLocks xmlns:a="http://schemas.openxmlformats.org/drawingml/2006/main" noGrp="1"/>
          </p:cNvSpPr>
          <p:nvPr/>
        </p:nvSpPr>
        <p:spPr>
          <a:xfrm xmlns:a="http://schemas.openxmlformats.org/drawingml/2006/main">
            <a:off x="1524000" y="3810000"/>
            <a:ext cx="21336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hlinkClick xmlns:r="http://schemas.openxmlformats.org/officeDocument/2006/relationships" r:id="Rd42e5699e75f4807"/>
              </a:rPr>
              <a:t>Ethereum.org: NFTs, wallets, transactions, gas, and security</a:t>
            </a:r>
          </a:p>
        </p:txBody>
      </p:sp>
      <p:sp>
        <p:nvSpPr>
          <p:cNvPr id="4" name="">
            <a:extLst xmlns:a="http://schemas.openxmlformats.org/drawingml/2006/main">
              <a:ext uri="{FF2B5EF4-FFF2-40B4-BE49-F238E27FC236}">
                <a16:creationId xmlns:a16="http://schemas.microsoft.com/office/drawing/2014/main" id="{9A3510FB-1F29-4522-97BC-10547FB8925F}"/>
              </a:ext>
            </a:extLst>
          </p:cNvPr>
          <p:cNvSpPr>
            <a:spLocks xmlns:a="http://schemas.openxmlformats.org/drawingml/2006/main" noGrp="1"/>
          </p:cNvSpPr>
          <p:nvPr/>
        </p:nvSpPr>
        <p:spPr>
          <a:xfrm xmlns:a="http://schemas.openxmlformats.org/drawingml/2006/main">
            <a:off x="1524000" y="5410200"/>
            <a:ext cx="21336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hlinkClick xmlns:r="http://schemas.openxmlformats.org/officeDocument/2006/relationships" r:id="Ra4ca4b80ba3547b1"/>
              </a:rPr>
              <a:t>ERC-721: the token standard</a:t>
            </a:r>
          </a:p>
        </p:txBody>
      </p:sp>
      <p:sp>
        <p:nvSpPr>
          <p:cNvPr id="5" name="">
            <a:extLst xmlns:a="http://schemas.openxmlformats.org/drawingml/2006/main">
              <a:ext uri="{FF2B5EF4-FFF2-40B4-BE49-F238E27FC236}">
                <a16:creationId xmlns:a16="http://schemas.microsoft.com/office/drawing/2014/main" id="{B837BE3D-81F1-4FA9-84CA-E6F69A1C727C}"/>
              </a:ext>
            </a:extLst>
          </p:cNvPr>
          <p:cNvSpPr>
            <a:spLocks xmlns:a="http://schemas.openxmlformats.org/drawingml/2006/main" noGrp="1"/>
          </p:cNvSpPr>
          <p:nvPr/>
        </p:nvSpPr>
        <p:spPr>
          <a:xfrm xmlns:a="http://schemas.openxmlformats.org/drawingml/2006/main">
            <a:off x="1524000" y="7010400"/>
            <a:ext cx="21336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hlinkClick xmlns:r="http://schemas.openxmlformats.org/officeDocument/2006/relationships" r:id="R74a84d70c0684940"/>
              </a:rPr>
              <a:t>IPFS Docs: content identifiers and persistence</a:t>
            </a:r>
          </a:p>
        </p:txBody>
      </p:sp>
      <p:sp>
        <p:nvSpPr>
          <p:cNvPr id="6" name="">
            <a:extLst xmlns:a="http://schemas.openxmlformats.org/drawingml/2006/main">
              <a:ext uri="{FF2B5EF4-FFF2-40B4-BE49-F238E27FC236}">
                <a16:creationId xmlns:a16="http://schemas.microsoft.com/office/drawing/2014/main" id="{D3E56242-8B6F-4C40-B767-3554B827713E}"/>
              </a:ext>
            </a:extLst>
          </p:cNvPr>
          <p:cNvSpPr>
            <a:spLocks xmlns:a="http://schemas.openxmlformats.org/drawingml/2006/main" noGrp="1"/>
          </p:cNvSpPr>
          <p:nvPr/>
        </p:nvSpPr>
        <p:spPr>
          <a:xfrm xmlns:a="http://schemas.openxmlformats.org/drawingml/2006/main">
            <a:off x="1524000" y="8610600"/>
            <a:ext cx="21336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0">
                <a:solidFill>
                  <a:srgbClr val="EEECE3"/>
                </a:solidFill>
                <a:latin typeface="Arial"/>
                <a:ea typeface="Arial"/>
                <a:cs typeface="Arial"/>
              </a:defRPr>
            </a:pPr>
            <a:r>
              <a:rPr sz="4350" b="0">
                <a:solidFill>
                  <a:srgbClr val="EEECE3"/>
                </a:solidFill>
                <a:latin typeface="Arial"/>
                <a:ea typeface="Arial"/>
                <a:cs typeface="Arial"/>
                <a:hlinkClick xmlns:r="http://schemas.openxmlformats.org/officeDocument/2006/relationships" r:id="R5401a03a522b4f6f"/>
              </a:rPr>
              <a:t>U.S. Copyright Office: NFTs and intellectual property</a:t>
            </a:r>
          </a:p>
        </p:txBody>
      </p:sp>
      <p:sp>
        <p:nvSpPr>
          <p:cNvPr id="7" name="">
            <a:extLst xmlns:a="http://schemas.openxmlformats.org/drawingml/2006/main">
              <a:ext uri="{FF2B5EF4-FFF2-40B4-BE49-F238E27FC236}">
                <a16:creationId xmlns:a16="http://schemas.microsoft.com/office/drawing/2014/main" id="{2C7120C8-7F1D-43ED-8E8C-E381C2A30878}"/>
              </a:ext>
            </a:extLst>
          </p:cNvPr>
          <p:cNvSpPr>
            <a:spLocks xmlns:a="http://schemas.openxmlformats.org/drawingml/2006/main" noGrp="1"/>
          </p:cNvSpPr>
          <p:nvPr/>
        </p:nvSpPr>
        <p:spPr>
          <a:xfrm xmlns:a="http://schemas.openxmlformats.org/drawingml/2006/main">
            <a:off x="1524000" y="11010900"/>
            <a:ext cx="2095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0">
                <a:solidFill>
                  <a:srgbClr val="BBBEB1"/>
                </a:solidFill>
                <a:latin typeface="Arial"/>
                <a:ea typeface="Arial"/>
                <a:cs typeface="Arial"/>
              </a:defRPr>
            </a:pPr>
            <a:r>
              <a:rPr sz="3450" b="0">
                <a:solidFill>
                  <a:srgbClr val="BBBEB1"/>
                </a:solidFill>
                <a:latin typeface="Arial"/>
                <a:ea typeface="Arial"/>
                <a:cs typeface="Arial"/>
              </a:rPr>
              <a:t>Original workshop: April 2022</a:t>
            </a:r>
          </a:p>
          <a:p xmlns:a="http://schemas.openxmlformats.org/drawingml/2006/main">
            <a:pPr algn="l">
              <a:defRPr sz="3450" b="0">
                <a:solidFill>
                  <a:srgbClr val="BBBEB1"/>
                </a:solidFill>
                <a:latin typeface="Arial"/>
                <a:ea typeface="Arial"/>
                <a:cs typeface="Arial"/>
              </a:defRPr>
            </a:pPr>
            <a:r>
              <a:rPr sz="3450" b="0">
                <a:solidFill>
                  <a:srgbClr val="BBBEB1"/>
                </a:solidFill>
                <a:latin typeface="Arial"/>
                <a:ea typeface="Arial"/>
                <a:cs typeface="Arial"/>
              </a:rPr>
              <a:t>Revised material: September 2026</a:t>
            </a:r>
          </a:p>
        </p:txBody>
      </p:sp>
    </p:spTree>
    <p:extLst>
      <p:ext uri="{BB962C8B-B14F-4D97-AF65-F5344CB8AC3E}">
        <p14:creationId xmlns:p14="http://schemas.microsoft.com/office/powerpoint/2010/main" val="2075002316"/>
      </p:ext>
    </p:extLst>
  </p:cSld>
</p:sld>
</file>

<file path=ppt/slides/slide17.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E2839C-BBBA-46EA-97AC-E6DFE5AF652C}"/>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Appendix A: Ethereum since April 2022</a:t>
            </a:r>
          </a:p>
        </p:txBody>
      </p:sp>
      <p:sp>
        <p:nvSpPr>
          <p:cNvPr id="2" name="">
            <a:extLst xmlns:a="http://schemas.openxmlformats.org/drawingml/2006/main">
              <a:ext uri="{FF2B5EF4-FFF2-40B4-BE49-F238E27FC236}">
                <a16:creationId xmlns:a16="http://schemas.microsoft.com/office/drawing/2014/main" id="{31ADF7E8-6B66-4D7C-9434-D01797CD88D6}"/>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69712785-F1B4-442D-BFB4-1A629262E66A}"/>
              </a:ext>
            </a:extLst>
          </p:cNvPr>
          <p:cNvSpPr>
            <a:spLocks xmlns:a="http://schemas.openxmlformats.org/drawingml/2006/main" noGrp="1"/>
          </p:cNvSpPr>
          <p:nvPr/>
        </p:nvSpPr>
        <p:spPr>
          <a:xfrm xmlns:a="http://schemas.openxmlformats.org/drawingml/2006/main">
            <a:off x="1524000" y="3905250"/>
            <a:ext cx="9334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300" b="1">
                <a:solidFill>
                  <a:srgbClr val="EEECE3"/>
                </a:solidFill>
                <a:latin typeface="Arial"/>
                <a:ea typeface="Arial"/>
                <a:cs typeface="Arial"/>
              </a:defRPr>
            </a:pPr>
            <a:r>
              <a:rPr sz="6300" b="1">
                <a:solidFill>
                  <a:srgbClr val="EEECE3"/>
                </a:solidFill>
                <a:latin typeface="Arial"/>
                <a:ea typeface="Arial"/>
                <a:cs typeface="Arial"/>
              </a:rPr>
              <a:t>April 2022</a:t>
            </a:r>
          </a:p>
        </p:txBody>
      </p:sp>
      <p:sp>
        <p:nvSpPr>
          <p:cNvPr id="4" name="">
            <a:extLst xmlns:a="http://schemas.openxmlformats.org/drawingml/2006/main">
              <a:ext uri="{FF2B5EF4-FFF2-40B4-BE49-F238E27FC236}">
                <a16:creationId xmlns:a16="http://schemas.microsoft.com/office/drawing/2014/main" id="{FACA6183-B7BA-44B5-86EA-B7CEE13B5EDA}"/>
              </a:ext>
            </a:extLst>
          </p:cNvPr>
          <p:cNvSpPr>
            <a:spLocks xmlns:a="http://schemas.openxmlformats.org/drawingml/2006/main" noGrp="1"/>
          </p:cNvSpPr>
          <p:nvPr/>
        </p:nvSpPr>
        <p:spPr>
          <a:xfrm xmlns:a="http://schemas.openxmlformats.org/drawingml/2006/main">
            <a:off x="12382500" y="390525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300" b="1">
                <a:solidFill>
                  <a:srgbClr val="C4C898"/>
                </a:solidFill>
                <a:latin typeface="Arial"/>
                <a:ea typeface="Arial"/>
                <a:cs typeface="Arial"/>
              </a:defRPr>
            </a:pPr>
            <a:r>
              <a:rPr sz="6300" b="1">
                <a:solidFill>
                  <a:srgbClr val="C4C898"/>
                </a:solidFill>
                <a:latin typeface="Arial"/>
                <a:ea typeface="Arial"/>
                <a:cs typeface="Arial"/>
              </a:rPr>
              <a:t>September 15, 2022</a:t>
            </a:r>
          </a:p>
        </p:txBody>
      </p:sp>
      <p:sp>
        <p:nvSpPr>
          <p:cNvPr id="5" name="">
            <a:extLst xmlns:a="http://schemas.openxmlformats.org/drawingml/2006/main">
              <a:ext uri="{FF2B5EF4-FFF2-40B4-BE49-F238E27FC236}">
                <a16:creationId xmlns:a16="http://schemas.microsoft.com/office/drawing/2014/main" id="{AA9CA293-6C8D-4309-B357-2D27052FD73A}"/>
              </a:ext>
            </a:extLst>
          </p:cNvPr>
          <p:cNvSpPr>
            <a:spLocks xmlns:a="http://schemas.openxmlformats.org/drawingml/2006/main" noGrp="1"/>
          </p:cNvSpPr>
          <p:nvPr/>
        </p:nvSpPr>
        <p:spPr>
          <a:xfrm xmlns:a="http://schemas.openxmlformats.org/drawingml/2006/main">
            <a:off x="1524000" y="5676900"/>
            <a:ext cx="9334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0">
                <a:solidFill>
                  <a:srgbClr val="EEECE3"/>
                </a:solidFill>
                <a:latin typeface="Arial"/>
                <a:ea typeface="Arial"/>
                <a:cs typeface="Arial"/>
              </a:defRPr>
            </a:pPr>
            <a:r>
              <a:rPr sz="4500" b="0">
                <a:solidFill>
                  <a:srgbClr val="EEECE3"/>
                </a:solidFill>
                <a:latin typeface="Arial"/>
                <a:ea typeface="Arial"/>
                <a:cs typeface="Arial"/>
              </a:rPr>
              <a:t>Original workshop</a:t>
            </a:r>
          </a:p>
        </p:txBody>
      </p:sp>
      <p:sp>
        <p:nvSpPr>
          <p:cNvPr id="6" name="">
            <a:extLst xmlns:a="http://schemas.openxmlformats.org/drawingml/2006/main">
              <a:ext uri="{FF2B5EF4-FFF2-40B4-BE49-F238E27FC236}">
                <a16:creationId xmlns:a16="http://schemas.microsoft.com/office/drawing/2014/main" id="{9F71CCAC-DFED-4358-A1A3-7D877DC5308B}"/>
              </a:ext>
            </a:extLst>
          </p:cNvPr>
          <p:cNvSpPr>
            <a:spLocks xmlns:a="http://schemas.openxmlformats.org/drawingml/2006/main" noGrp="1"/>
          </p:cNvSpPr>
          <p:nvPr/>
        </p:nvSpPr>
        <p:spPr>
          <a:xfrm xmlns:a="http://schemas.openxmlformats.org/drawingml/2006/main">
            <a:off x="12382500" y="56769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0">
                <a:solidFill>
                  <a:srgbClr val="EEECE3"/>
                </a:solidFill>
                <a:latin typeface="Arial"/>
                <a:ea typeface="Arial"/>
                <a:cs typeface="Arial"/>
              </a:defRPr>
            </a:pPr>
            <a:r>
              <a:rPr sz="4800" b="0">
                <a:solidFill>
                  <a:srgbClr val="EEECE3"/>
                </a:solidFill>
                <a:latin typeface="Arial"/>
                <a:ea typeface="Arial"/>
                <a:cs typeface="Arial"/>
              </a:rPr>
              <a:t>Ethereum moves to</a:t>
            </a:r>
          </a:p>
          <a:p xmlns:a="http://schemas.openxmlformats.org/drawingml/2006/main">
            <a:pPr algn="l">
              <a:defRPr sz="4800" b="0">
                <a:solidFill>
                  <a:srgbClr val="EEECE3"/>
                </a:solidFill>
                <a:latin typeface="Arial"/>
                <a:ea typeface="Arial"/>
                <a:cs typeface="Arial"/>
              </a:defRPr>
            </a:pPr>
            <a:r>
              <a:rPr sz="4800" b="0">
                <a:solidFill>
                  <a:srgbClr val="EEECE3"/>
                </a:solidFill>
                <a:latin typeface="Arial"/>
                <a:ea typeface="Arial"/>
                <a:cs typeface="Arial"/>
              </a:rPr>
              <a:t>proof-of-stake</a:t>
            </a:r>
          </a:p>
        </p:txBody>
      </p:sp>
      <p:sp>
        <p:nvSpPr>
          <p:cNvPr id="7" name="">
            <a:extLst xmlns:a="http://schemas.openxmlformats.org/drawingml/2006/main">
              <a:ext uri="{FF2B5EF4-FFF2-40B4-BE49-F238E27FC236}">
                <a16:creationId xmlns:a16="http://schemas.microsoft.com/office/drawing/2014/main" id="{1AA2331C-4661-4253-9A2A-5476D65DE879}"/>
              </a:ext>
            </a:extLst>
          </p:cNvPr>
          <p:cNvSpPr>
            <a:spLocks xmlns:a="http://schemas.openxmlformats.org/drawingml/2006/main" noGrp="1"/>
          </p:cNvSpPr>
          <p:nvPr/>
        </p:nvSpPr>
        <p:spPr>
          <a:xfrm xmlns:a="http://schemas.openxmlformats.org/drawingml/2006/main">
            <a:off x="1524000" y="9048750"/>
            <a:ext cx="2095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0">
                <a:solidFill>
                  <a:srgbClr val="EEECE3"/>
                </a:solidFill>
                <a:latin typeface="Arial"/>
                <a:ea typeface="Arial"/>
                <a:cs typeface="Arial"/>
              </a:defRPr>
            </a:pPr>
            <a:r>
              <a:rPr sz="4500" b="0">
                <a:solidFill>
                  <a:srgbClr val="EEECE3"/>
                </a:solidFill>
                <a:latin typeface="Arial"/>
                <a:ea typeface="Arial"/>
                <a:cs typeface="Arial"/>
              </a:rPr>
              <a:t>Wallet capabilities and transaction formats have continued to develop.</a:t>
            </a:r>
          </a:p>
        </p:txBody>
      </p:sp>
      <p:sp>
        <p:nvSpPr>
          <p:cNvPr id="8" name="">
            <a:extLst xmlns:a="http://schemas.openxmlformats.org/drawingml/2006/main">
              <a:ext uri="{FF2B5EF4-FFF2-40B4-BE49-F238E27FC236}">
                <a16:creationId xmlns:a16="http://schemas.microsoft.com/office/drawing/2014/main" id="{B2B8B142-1806-41B3-9589-5C7520C56CD9}"/>
              </a:ext>
            </a:extLst>
          </p:cNvPr>
          <p:cNvSpPr>
            <a:spLocks xmlns:a="http://schemas.openxmlformats.org/drawingml/2006/main" noGrp="1"/>
          </p:cNvSpPr>
          <p:nvPr/>
        </p:nvSpPr>
        <p:spPr>
          <a:xfrm xmlns:a="http://schemas.openxmlformats.org/drawingml/2006/main">
            <a:off x="1524000" y="11468100"/>
            <a:ext cx="2095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0">
                <a:solidFill>
                  <a:srgbClr val="BBBEB1"/>
                </a:solidFill>
                <a:latin typeface="Arial"/>
                <a:ea typeface="Arial"/>
                <a:cs typeface="Arial"/>
              </a:defRPr>
            </a:pPr>
            <a:r>
              <a:rPr sz="4050" b="0">
                <a:solidFill>
                  <a:srgbClr val="BBBEB1"/>
                </a:solidFill>
                <a:latin typeface="Arial"/>
                <a:ea typeface="Arial"/>
                <a:cs typeface="Arial"/>
              </a:rPr>
              <a:t>Historical explanations need dates when reused.</a:t>
            </a:r>
          </a:p>
        </p:txBody>
      </p:sp>
    </p:spTree>
    <p:extLst>
      <p:ext uri="{BB962C8B-B14F-4D97-AF65-F5344CB8AC3E}">
        <p14:creationId xmlns:p14="http://schemas.microsoft.com/office/powerpoint/2010/main" val="1520167238"/>
      </p:ext>
    </p:extLst>
  </p:cSld>
</p:sld>
</file>

<file path=ppt/slides/slide18.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E09EF25-4FA2-49E8-AE2B-EBE39B087C60}"/>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Appendix B: Accounts and contract execution</a:t>
            </a:r>
          </a:p>
        </p:txBody>
      </p:sp>
      <p:sp>
        <p:nvSpPr>
          <p:cNvPr id="2" name="">
            <a:extLst xmlns:a="http://schemas.openxmlformats.org/drawingml/2006/main">
              <a:ext uri="{FF2B5EF4-FFF2-40B4-BE49-F238E27FC236}">
                <a16:creationId xmlns:a16="http://schemas.microsoft.com/office/drawing/2014/main" id="{CA1BBAD9-75D5-4D86-81C9-66CD278ED706}"/>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73B11D2F-2DB8-49C7-BC4D-7C503DF26455}"/>
              </a:ext>
            </a:extLst>
          </p:cNvPr>
          <p:cNvSpPr>
            <a:spLocks xmlns:a="http://schemas.openxmlformats.org/drawingml/2006/main" noGrp="1"/>
          </p:cNvSpPr>
          <p:nvPr/>
        </p:nvSpPr>
        <p:spPr>
          <a:xfrm xmlns:a="http://schemas.openxmlformats.org/drawingml/2006/main">
            <a:off x="1524000" y="3486150"/>
            <a:ext cx="20955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0">
                <a:solidFill>
                  <a:srgbClr val="EEECE3"/>
                </a:solidFill>
                <a:latin typeface="Arial"/>
                <a:ea typeface="Arial"/>
                <a:cs typeface="Arial"/>
              </a:defRPr>
            </a:pPr>
            <a:r>
              <a:rPr sz="4800" b="0">
                <a:solidFill>
                  <a:srgbClr val="EEECE3"/>
                </a:solidFill>
                <a:latin typeface="Arial"/>
                <a:ea typeface="Arial"/>
                <a:cs typeface="Arial"/>
              </a:rPr>
              <a:t>Ethereum supports accounts controlled through keys and accounts governed by contract code.</a:t>
            </a:r>
          </a:p>
        </p:txBody>
      </p:sp>
      <p:sp>
        <p:nvSpPr>
          <p:cNvPr id="4" name="">
            <a:extLst xmlns:a="http://schemas.openxmlformats.org/drawingml/2006/main">
              <a:ext uri="{FF2B5EF4-FFF2-40B4-BE49-F238E27FC236}">
                <a16:creationId xmlns:a16="http://schemas.microsoft.com/office/drawing/2014/main" id="{0145404F-19D6-4CBC-BAED-03DD34737641}"/>
              </a:ext>
            </a:extLst>
          </p:cNvPr>
          <p:cNvSpPr>
            <a:spLocks xmlns:a="http://schemas.openxmlformats.org/drawingml/2006/main" noGrp="1"/>
          </p:cNvSpPr>
          <p:nvPr/>
        </p:nvSpPr>
        <p:spPr>
          <a:xfrm xmlns:a="http://schemas.openxmlformats.org/drawingml/2006/main">
            <a:off x="1524000" y="6953250"/>
            <a:ext cx="5143500" cy="1257300"/>
          </a:xfrm>
          <a:prstGeom xmlns:a="http://schemas.openxmlformats.org/drawingml/2006/main" prst="rect">
            <a:avLst/>
          </a:prstGeom>
          <a:solidFill xmlns:a="http://schemas.openxmlformats.org/drawingml/2006/main">
            <a:srgbClr val="10110F"/>
          </a:solidFill>
          <a:ln xmlns:a="http://schemas.openxmlformats.org/drawingml/2006/main" w="19050">
            <a:solidFill>
              <a:srgbClr val="666A57"/>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EEECE3"/>
                </a:solidFill>
                <a:latin typeface="Arial"/>
                <a:ea typeface="Arial"/>
                <a:cs typeface="Arial"/>
              </a:defRPr>
            </a:pPr>
            <a:r>
              <a:rPr sz="3750">
                <a:solidFill>
                  <a:srgbClr val="EEECE3"/>
                </a:solidFill>
                <a:latin typeface="Arial"/>
                <a:ea typeface="Arial"/>
                <a:cs typeface="Arial"/>
              </a:rPr>
              <a:t>Transaction</a:t>
            </a:r>
          </a:p>
        </p:txBody>
      </p:sp>
      <p:sp>
        <p:nvSpPr>
          <p:cNvPr id="5" name="">
            <a:extLst xmlns:a="http://schemas.openxmlformats.org/drawingml/2006/main">
              <a:ext uri="{FF2B5EF4-FFF2-40B4-BE49-F238E27FC236}">
                <a16:creationId xmlns:a16="http://schemas.microsoft.com/office/drawing/2014/main" id="{486CACA4-A36E-4C82-9521-E9DD9983244C}"/>
              </a:ext>
            </a:extLst>
          </p:cNvPr>
          <p:cNvSpPr>
            <a:spLocks xmlns:a="http://schemas.openxmlformats.org/drawingml/2006/main" noGrp="1"/>
          </p:cNvSpPr>
          <p:nvPr/>
        </p:nvSpPr>
        <p:spPr>
          <a:xfrm xmlns:a="http://schemas.openxmlformats.org/drawingml/2006/main">
            <a:off x="9620250" y="6953250"/>
            <a:ext cx="5143500" cy="1257300"/>
          </a:xfrm>
          <a:prstGeom xmlns:a="http://schemas.openxmlformats.org/drawingml/2006/main" prst="rect">
            <a:avLst/>
          </a:prstGeom>
          <a:solidFill xmlns:a="http://schemas.openxmlformats.org/drawingml/2006/main">
            <a:srgbClr val="10110F"/>
          </a:solidFill>
          <a:ln xmlns:a="http://schemas.openxmlformats.org/drawingml/2006/main" w="19050">
            <a:solidFill>
              <a:srgbClr val="666A57"/>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EEECE3"/>
                </a:solidFill>
                <a:latin typeface="Arial"/>
                <a:ea typeface="Arial"/>
                <a:cs typeface="Arial"/>
              </a:defRPr>
            </a:pPr>
            <a:r>
              <a:rPr sz="3750">
                <a:solidFill>
                  <a:srgbClr val="EEECE3"/>
                </a:solidFill>
                <a:latin typeface="Arial"/>
                <a:ea typeface="Arial"/>
                <a:cs typeface="Arial"/>
              </a:rPr>
              <a:t>Contract</a:t>
            </a:r>
          </a:p>
        </p:txBody>
      </p:sp>
      <p:sp>
        <p:nvSpPr>
          <p:cNvPr id="6" name="">
            <a:extLst xmlns:a="http://schemas.openxmlformats.org/drawingml/2006/main">
              <a:ext uri="{FF2B5EF4-FFF2-40B4-BE49-F238E27FC236}">
                <a16:creationId xmlns:a16="http://schemas.microsoft.com/office/drawing/2014/main" id="{AAA6E485-5AAF-4580-A93A-A0C67BF2D939}"/>
              </a:ext>
            </a:extLst>
          </p:cNvPr>
          <p:cNvSpPr>
            <a:spLocks xmlns:a="http://schemas.openxmlformats.org/drawingml/2006/main" noGrp="1"/>
          </p:cNvSpPr>
          <p:nvPr/>
        </p:nvSpPr>
        <p:spPr>
          <a:xfrm xmlns:a="http://schemas.openxmlformats.org/drawingml/2006/main">
            <a:off x="17716500" y="6953250"/>
            <a:ext cx="5143500" cy="1257300"/>
          </a:xfrm>
          <a:prstGeom xmlns:a="http://schemas.openxmlformats.org/drawingml/2006/main" prst="rect">
            <a:avLst/>
          </a:prstGeom>
          <a:solidFill xmlns:a="http://schemas.openxmlformats.org/drawingml/2006/main">
            <a:srgbClr val="10110F"/>
          </a:solidFill>
          <a:ln xmlns:a="http://schemas.openxmlformats.org/drawingml/2006/main" w="19050">
            <a:solidFill>
              <a:srgbClr val="666A57"/>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EEECE3"/>
                </a:solidFill>
                <a:latin typeface="Arial"/>
                <a:ea typeface="Arial"/>
                <a:cs typeface="Arial"/>
              </a:defRPr>
            </a:pPr>
            <a:r>
              <a:rPr sz="3750">
                <a:solidFill>
                  <a:srgbClr val="EEECE3"/>
                </a:solidFill>
                <a:latin typeface="Arial"/>
                <a:ea typeface="Arial"/>
                <a:cs typeface="Arial"/>
              </a:rPr>
              <a:t>Other contracts</a:t>
            </a:r>
          </a:p>
        </p:txBody>
      </p: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6667500" y="7581900"/>
            <a:ext cx="2952750" cy="0"/>
          </a:xfrm>
          <a:prstGeom xmlns:a="http://schemas.openxmlformats.org/drawingml/2006/main" prst="straightConnector1">
            <a:avLst/>
          </a:prstGeom>
          <a:ln xmlns:a="http://schemas.openxmlformats.org/drawingml/2006/main" w="28575">
            <a:solidFill>
              <a:srgbClr val="666A57"/>
            </a:solidFill>
            <a:tailEnd type="triangle" w="med" len="med"/>
          </a:ln>
        </p:spPr>
      </p:cxnSp>
      <p:cxnSp>
        <p:nvCxnSpPr>
          <p:cNvPr id="18" name=""/>
          <p:cNvCxnSpPr>
            <a:stCxn xmlns:a="http://schemas.openxmlformats.org/drawingml/2006/main" id="5" idx="3"/>
            <a:endCxn xmlns:a="http://schemas.openxmlformats.org/drawingml/2006/main" id="6" idx="1"/>
          </p:cNvCxnSpPr>
          <p:nvPr/>
        </p:nvCxnSpPr>
        <p:spPr>
          <a:xfrm xmlns:a="http://schemas.openxmlformats.org/drawingml/2006/main">
            <a:off x="14763750" y="7581900"/>
            <a:ext cx="2952750" cy="0"/>
          </a:xfrm>
          <a:prstGeom xmlns:a="http://schemas.openxmlformats.org/drawingml/2006/main" prst="straightConnector1">
            <a:avLst/>
          </a:prstGeom>
          <a:ln xmlns:a="http://schemas.openxmlformats.org/drawingml/2006/main" w="28575">
            <a:solidFill>
              <a:srgbClr val="666A57"/>
            </a:solidFill>
            <a:tailEnd type="triangle" w="med" len="med"/>
          </a:ln>
        </p:spPr>
      </p:cxnSp>
      <p:sp>
        <p:nvSpPr>
          <p:cNvPr id="9" name="">
            <a:extLst xmlns:a="http://schemas.openxmlformats.org/drawingml/2006/main">
              <a:ext uri="{FF2B5EF4-FFF2-40B4-BE49-F238E27FC236}">
                <a16:creationId xmlns:a16="http://schemas.microsoft.com/office/drawing/2014/main" id="{074B2192-3094-41C3-81DB-2B1E96D09479}"/>
              </a:ext>
            </a:extLst>
          </p:cNvPr>
          <p:cNvSpPr>
            <a:spLocks xmlns:a="http://schemas.openxmlformats.org/drawingml/2006/main" noGrp="1"/>
          </p:cNvSpPr>
          <p:nvPr/>
        </p:nvSpPr>
        <p:spPr>
          <a:xfrm xmlns:a="http://schemas.openxmlformats.org/drawingml/2006/main">
            <a:off x="1524000" y="8953500"/>
            <a:ext cx="20955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200" b="0">
                <a:solidFill>
                  <a:srgbClr val="EEECE3"/>
                </a:solidFill>
                <a:latin typeface="Arial"/>
                <a:ea typeface="Arial"/>
                <a:cs typeface="Arial"/>
              </a:defRPr>
            </a:pPr>
            <a:r>
              <a:rPr sz="4200" b="0">
                <a:solidFill>
                  <a:srgbClr val="EEECE3"/>
                </a:solidFill>
                <a:latin typeface="Arial"/>
                <a:ea typeface="Arial"/>
                <a:cs typeface="Arial"/>
              </a:rPr>
              <a:t>A transaction can call a contract, which may call other contracts.</a:t>
            </a:r>
          </a:p>
        </p:txBody>
      </p:sp>
      <p:sp>
        <p:nvSpPr>
          <p:cNvPr id="10" name="">
            <a:extLst xmlns:a="http://schemas.openxmlformats.org/drawingml/2006/main">
              <a:ext uri="{FF2B5EF4-FFF2-40B4-BE49-F238E27FC236}">
                <a16:creationId xmlns:a16="http://schemas.microsoft.com/office/drawing/2014/main" id="{FC5E5D88-CFAA-43FE-8149-50608DA6FA77}"/>
              </a:ext>
            </a:extLst>
          </p:cNvPr>
          <p:cNvSpPr>
            <a:spLocks xmlns:a="http://schemas.openxmlformats.org/drawingml/2006/main" noGrp="1"/>
          </p:cNvSpPr>
          <p:nvPr/>
        </p:nvSpPr>
        <p:spPr>
          <a:xfrm xmlns:a="http://schemas.openxmlformats.org/drawingml/2006/main">
            <a:off x="1524000" y="11087100"/>
            <a:ext cx="2095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0">
                <a:solidFill>
                  <a:srgbClr val="C4C898"/>
                </a:solidFill>
                <a:latin typeface="Arial"/>
                <a:ea typeface="Arial"/>
                <a:cs typeface="Arial"/>
              </a:defRPr>
            </a:pPr>
            <a:r>
              <a:rPr sz="4350" b="0">
                <a:solidFill>
                  <a:srgbClr val="C4C898"/>
                </a:solidFill>
                <a:latin typeface="Arial"/>
                <a:ea typeface="Arial"/>
                <a:cs typeface="Arial"/>
              </a:rPr>
              <a:t>Execution uses gas and can fail if required conditions are unmet.</a:t>
            </a:r>
          </a:p>
        </p:txBody>
      </p:sp>
    </p:spTree>
    <p:extLst>
      <p:ext uri="{BB962C8B-B14F-4D97-AF65-F5344CB8AC3E}">
        <p14:creationId xmlns:p14="http://schemas.microsoft.com/office/powerpoint/2010/main" val="781209118"/>
      </p:ext>
    </p:extLst>
  </p:cSld>
</p:sld>
</file>

<file path=ppt/slides/slide19.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55BA3D-1DAA-431E-88A6-6BF5364576C9}"/>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Appendix C: Gas worked example</a:t>
            </a:r>
          </a:p>
        </p:txBody>
      </p:sp>
      <p:sp>
        <p:nvSpPr>
          <p:cNvPr id="2" name="">
            <a:extLst xmlns:a="http://schemas.openxmlformats.org/drawingml/2006/main">
              <a:ext uri="{FF2B5EF4-FFF2-40B4-BE49-F238E27FC236}">
                <a16:creationId xmlns:a16="http://schemas.microsoft.com/office/drawing/2014/main" id="{C0E6BB54-3893-441E-9565-F988518A915D}"/>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5E1681F5-112B-4DA6-833A-96E51EF52FA3}"/>
              </a:ext>
            </a:extLst>
          </p:cNvPr>
          <p:cNvSpPr>
            <a:spLocks xmlns:a="http://schemas.openxmlformats.org/drawingml/2006/main" noGrp="1"/>
          </p:cNvSpPr>
          <p:nvPr/>
        </p:nvSpPr>
        <p:spPr>
          <a:xfrm xmlns:a="http://schemas.openxmlformats.org/drawingml/2006/main">
            <a:off x="1524000" y="3524250"/>
            <a:ext cx="2095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0">
                <a:solidFill>
                  <a:srgbClr val="BBBEB1"/>
                </a:solidFill>
                <a:latin typeface="Arial"/>
                <a:ea typeface="Arial"/>
                <a:cs typeface="Arial"/>
              </a:defRPr>
            </a:pPr>
            <a:r>
              <a:rPr sz="3600" b="0">
                <a:solidFill>
                  <a:srgbClr val="BBBEB1"/>
                </a:solidFill>
                <a:latin typeface="Arial"/>
                <a:ea typeface="Arial"/>
                <a:cs typeface="Arial"/>
              </a:rPr>
              <a:t>Hypothetical Ethereum mainnet example</a:t>
            </a:r>
          </a:p>
        </p:txBody>
      </p:sp>
      <p:sp>
        <p:nvSpPr>
          <p:cNvPr id="4" name="">
            <a:extLst xmlns:a="http://schemas.openxmlformats.org/drawingml/2006/main">
              <a:ext uri="{FF2B5EF4-FFF2-40B4-BE49-F238E27FC236}">
                <a16:creationId xmlns:a16="http://schemas.microsoft.com/office/drawing/2014/main" id="{5AC0E18B-8304-4E14-B6EB-F55A1DA58CD0}"/>
              </a:ext>
            </a:extLst>
          </p:cNvPr>
          <p:cNvSpPr>
            <a:spLocks xmlns:a="http://schemas.openxmlformats.org/drawingml/2006/main" noGrp="1"/>
          </p:cNvSpPr>
          <p:nvPr/>
        </p:nvSpPr>
        <p:spPr>
          <a:xfrm xmlns:a="http://schemas.openxmlformats.org/drawingml/2006/main">
            <a:off x="1524000" y="5238750"/>
            <a:ext cx="2114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350" b="0">
                <a:solidFill>
                  <a:srgbClr val="EEECE3"/>
                </a:solidFill>
                <a:latin typeface="Arial"/>
                <a:ea typeface="Arial"/>
                <a:cs typeface="Arial"/>
              </a:defRPr>
            </a:pPr>
            <a:r>
              <a:rPr sz="7350" b="0">
                <a:solidFill>
                  <a:srgbClr val="EEECE3"/>
                </a:solidFill>
                <a:latin typeface="Arial"/>
                <a:ea typeface="Arial"/>
                <a:cs typeface="Arial"/>
              </a:rPr>
              <a:t>50,000 gas × 12 gwei per gas</a:t>
            </a:r>
          </a:p>
        </p:txBody>
      </p:sp>
      <p:sp>
        <p:nvSpPr>
          <p:cNvPr id="5" name="">
            <a:extLst xmlns:a="http://schemas.openxmlformats.org/drawingml/2006/main">
              <a:ext uri="{FF2B5EF4-FFF2-40B4-BE49-F238E27FC236}">
                <a16:creationId xmlns:a16="http://schemas.microsoft.com/office/drawing/2014/main" id="{DA2B350E-D868-4EE2-92E3-629F2565D337}"/>
              </a:ext>
            </a:extLst>
          </p:cNvPr>
          <p:cNvSpPr>
            <a:spLocks xmlns:a="http://schemas.openxmlformats.org/drawingml/2006/main" noGrp="1"/>
          </p:cNvSpPr>
          <p:nvPr/>
        </p:nvSpPr>
        <p:spPr>
          <a:xfrm xmlns:a="http://schemas.openxmlformats.org/drawingml/2006/main">
            <a:off x="1524000" y="7048500"/>
            <a:ext cx="2095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000" b="0">
                <a:solidFill>
                  <a:srgbClr val="EEECE3"/>
                </a:solidFill>
                <a:latin typeface="Arial"/>
                <a:ea typeface="Arial"/>
                <a:cs typeface="Arial"/>
              </a:defRPr>
            </a:pPr>
            <a:r>
              <a:rPr sz="6000" b="0">
                <a:solidFill>
                  <a:srgbClr val="EEECE3"/>
                </a:solidFill>
                <a:latin typeface="Arial"/>
                <a:ea typeface="Arial"/>
                <a:cs typeface="Arial"/>
              </a:rPr>
              <a:t>= 600,000 gwei</a:t>
            </a:r>
          </a:p>
        </p:txBody>
      </p:sp>
      <p:sp>
        <p:nvSpPr>
          <p:cNvPr id="6" name="">
            <a:extLst xmlns:a="http://schemas.openxmlformats.org/drawingml/2006/main">
              <a:ext uri="{FF2B5EF4-FFF2-40B4-BE49-F238E27FC236}">
                <a16:creationId xmlns:a16="http://schemas.microsoft.com/office/drawing/2014/main" id="{80B7749E-8940-4797-AED3-45CA974211F4}"/>
              </a:ext>
            </a:extLst>
          </p:cNvPr>
          <p:cNvSpPr>
            <a:spLocks xmlns:a="http://schemas.openxmlformats.org/drawingml/2006/main" noGrp="1"/>
          </p:cNvSpPr>
          <p:nvPr/>
        </p:nvSpPr>
        <p:spPr>
          <a:xfrm xmlns:a="http://schemas.openxmlformats.org/drawingml/2006/main">
            <a:off x="1524000" y="9391650"/>
            <a:ext cx="2114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800" b="1">
                <a:solidFill>
                  <a:srgbClr val="C4C898"/>
                </a:solidFill>
                <a:latin typeface="Arial"/>
                <a:ea typeface="Arial"/>
                <a:cs typeface="Arial"/>
              </a:defRPr>
            </a:pPr>
            <a:r>
              <a:rPr sz="7800" b="1">
                <a:solidFill>
                  <a:srgbClr val="C4C898"/>
                </a:solidFill>
                <a:latin typeface="Arial"/>
                <a:ea typeface="Arial"/>
                <a:cs typeface="Arial"/>
              </a:rPr>
              <a:t>Network fee: 0.0006 ETH</a:t>
            </a:r>
          </a:p>
        </p:txBody>
      </p:sp>
      <p:sp>
        <p:nvSpPr>
          <p:cNvPr id="7" name="">
            <a:extLst xmlns:a="http://schemas.openxmlformats.org/drawingml/2006/main">
              <a:ext uri="{FF2B5EF4-FFF2-40B4-BE49-F238E27FC236}">
                <a16:creationId xmlns:a16="http://schemas.microsoft.com/office/drawing/2014/main" id="{AE9350B0-CB61-4414-8EEB-DB4E6AF9AE9F}"/>
              </a:ext>
            </a:extLst>
          </p:cNvPr>
          <p:cNvSpPr>
            <a:spLocks xmlns:a="http://schemas.openxmlformats.org/drawingml/2006/main" noGrp="1"/>
          </p:cNvSpPr>
          <p:nvPr/>
        </p:nvSpPr>
        <p:spPr>
          <a:xfrm xmlns:a="http://schemas.openxmlformats.org/drawingml/2006/main">
            <a:off x="1524000" y="11753850"/>
            <a:ext cx="2095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0">
                <a:solidFill>
                  <a:srgbClr val="BBBEB1"/>
                </a:solidFill>
                <a:latin typeface="Arial"/>
                <a:ea typeface="Arial"/>
                <a:cs typeface="Arial"/>
              </a:defRPr>
            </a:pPr>
            <a:r>
              <a:rPr sz="4050" b="0">
                <a:solidFill>
                  <a:srgbClr val="BBBEB1"/>
                </a:solidFill>
                <a:latin typeface="Arial"/>
                <a:ea typeface="Arial"/>
                <a:cs typeface="Arial"/>
              </a:rPr>
              <a:t>Any purchase price is additional.</a:t>
            </a:r>
          </a:p>
        </p:txBody>
      </p:sp>
    </p:spTree>
    <p:extLst>
      <p:ext uri="{BB962C8B-B14F-4D97-AF65-F5344CB8AC3E}">
        <p14:creationId xmlns:p14="http://schemas.microsoft.com/office/powerpoint/2010/main" val="1110607211"/>
      </p:ext>
    </p:extLst>
  </p:cSld>
</p:sld>
</file>

<file path=ppt/slides/slide20.xml><?xml version="1.0" encoding="utf-8"?>
<p:sld xmlns:p="http://schemas.openxmlformats.org/presentationml/2006/main">
  <p:cSld>
    <p:bg>
      <p:bgPr>
        <a:solidFill xmlns:a="http://schemas.openxmlformats.org/drawingml/2006/main">
          <a:srgbClr val="10110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C3476BB-D4CD-4D63-A152-B85286626909}"/>
              </a:ext>
            </a:extLst>
          </p:cNvPr>
          <p:cNvSpPr>
            <a:spLocks xmlns:a="http://schemas.openxmlformats.org/drawingml/2006/main" noGrp="1"/>
          </p:cNvSpPr>
          <p:nvPr/>
        </p:nvSpPr>
        <p:spPr>
          <a:xfrm xmlns:a="http://schemas.openxmlformats.org/drawingml/2006/main">
            <a:off x="1524000" y="1181100"/>
            <a:ext cx="2133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C4C898"/>
                </a:solidFill>
                <a:latin typeface="Arial"/>
                <a:ea typeface="Arial"/>
                <a:cs typeface="Arial"/>
              </a:defRPr>
            </a:pPr>
            <a:r>
              <a:rPr sz="6600" b="1">
                <a:solidFill>
                  <a:srgbClr val="C4C898"/>
                </a:solidFill>
                <a:latin typeface="Arial"/>
                <a:ea typeface="Arial"/>
                <a:cs typeface="Arial"/>
              </a:rPr>
              <a:t>Appendix D: Hashes and Merkle proofs</a:t>
            </a:r>
          </a:p>
        </p:txBody>
      </p:sp>
      <p:sp>
        <p:nvSpPr>
          <p:cNvPr id="2" name="">
            <a:extLst xmlns:a="http://schemas.openxmlformats.org/drawingml/2006/main">
              <a:ext uri="{FF2B5EF4-FFF2-40B4-BE49-F238E27FC236}">
                <a16:creationId xmlns:a16="http://schemas.microsoft.com/office/drawing/2014/main" id="{D2F9EF0E-F059-4438-AD9B-5C2FF322FBAB}"/>
              </a:ext>
            </a:extLst>
          </p:cNvPr>
          <p:cNvSpPr>
            <a:spLocks xmlns:a="http://schemas.openxmlformats.org/drawingml/2006/main" noGrp="1"/>
          </p:cNvSpPr>
          <p:nvPr/>
        </p:nvSpPr>
        <p:spPr>
          <a:xfrm xmlns:a="http://schemas.openxmlformats.org/drawingml/2006/main">
            <a:off x="22098000" y="126492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BBBEB1"/>
                </a:solidFill>
                <a:latin typeface="Arial"/>
                <a:ea typeface="Arial"/>
                <a:cs typeface="Arial"/>
              </a:defRPr>
            </a:pPr>
            <a:r>
              <a:rPr sz="2400" b="0">
                <a:solidFill>
                  <a:srgbClr val="BBBEB1"/>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EE7317E8-ECC9-410B-8459-444EA53B3AB5}"/>
              </a:ext>
            </a:extLst>
          </p:cNvPr>
          <p:cNvSpPr>
            <a:spLocks xmlns:a="http://schemas.openxmlformats.org/drawingml/2006/main" noGrp="1"/>
          </p:cNvSpPr>
          <p:nvPr/>
        </p:nvSpPr>
        <p:spPr>
          <a:xfrm xmlns:a="http://schemas.openxmlformats.org/drawingml/2006/main">
            <a:off x="1524000" y="3619500"/>
            <a:ext cx="9334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0">
                <a:solidFill>
                  <a:srgbClr val="EEECE3"/>
                </a:solidFill>
                <a:latin typeface="Arial"/>
                <a:ea typeface="Arial"/>
                <a:cs typeface="Arial"/>
              </a:defRPr>
            </a:pPr>
            <a:r>
              <a:rPr sz="4650" b="0">
                <a:solidFill>
                  <a:srgbClr val="EEECE3"/>
                </a:solidFill>
                <a:latin typeface="Arial"/>
                <a:ea typeface="Arial"/>
                <a:cs typeface="Arial"/>
              </a:rPr>
              <a:t>A hash summarizes data in a fixed-size value.</a:t>
            </a:r>
          </a:p>
        </p:txBody>
      </p:sp>
      <p:sp>
        <p:nvSpPr>
          <p:cNvPr id="4" name="">
            <a:extLst xmlns:a="http://schemas.openxmlformats.org/drawingml/2006/main">
              <a:ext uri="{FF2B5EF4-FFF2-40B4-BE49-F238E27FC236}">
                <a16:creationId xmlns:a16="http://schemas.microsoft.com/office/drawing/2014/main" id="{C08AD6FA-D903-4DBF-8186-F6A8D1CF9634}"/>
              </a:ext>
            </a:extLst>
          </p:cNvPr>
          <p:cNvSpPr>
            <a:spLocks xmlns:a="http://schemas.openxmlformats.org/drawingml/2006/main" noGrp="1"/>
          </p:cNvSpPr>
          <p:nvPr/>
        </p:nvSpPr>
        <p:spPr>
          <a:xfrm xmlns:a="http://schemas.openxmlformats.org/drawingml/2006/main">
            <a:off x="1524000" y="6572250"/>
            <a:ext cx="9334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0">
                <a:solidFill>
                  <a:srgbClr val="EEECE3"/>
                </a:solidFill>
                <a:latin typeface="Arial"/>
                <a:ea typeface="Arial"/>
                <a:cs typeface="Arial"/>
              </a:defRPr>
            </a:pPr>
            <a:r>
              <a:rPr sz="4650" b="0">
                <a:solidFill>
                  <a:srgbClr val="EEECE3"/>
                </a:solidFill>
                <a:latin typeface="Arial"/>
                <a:ea typeface="Arial"/>
                <a:cs typeface="Arial"/>
              </a:rPr>
              <a:t>A Merkle structure combines hashes into a root.</a:t>
            </a:r>
          </a:p>
        </p:txBody>
      </p:sp>
      <p:sp>
        <p:nvSpPr>
          <p:cNvPr id="5" name="">
            <a:extLst xmlns:a="http://schemas.openxmlformats.org/drawingml/2006/main">
              <a:ext uri="{FF2B5EF4-FFF2-40B4-BE49-F238E27FC236}">
                <a16:creationId xmlns:a16="http://schemas.microsoft.com/office/drawing/2014/main" id="{1F56C333-4E79-4C98-B87E-1E897BA31E1D}"/>
              </a:ext>
            </a:extLst>
          </p:cNvPr>
          <p:cNvSpPr>
            <a:spLocks xmlns:a="http://schemas.openxmlformats.org/drawingml/2006/main" noGrp="1"/>
          </p:cNvSpPr>
          <p:nvPr/>
        </p:nvSpPr>
        <p:spPr>
          <a:xfrm xmlns:a="http://schemas.openxmlformats.org/drawingml/2006/main">
            <a:off x="1524000" y="9525000"/>
            <a:ext cx="9715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0">
                <a:solidFill>
                  <a:srgbClr val="EEECE3"/>
                </a:solidFill>
                <a:latin typeface="Arial"/>
                <a:ea typeface="Arial"/>
                <a:cs typeface="Arial"/>
              </a:defRPr>
            </a:pPr>
            <a:r>
              <a:rPr sz="4500" b="0">
                <a:solidFill>
                  <a:srgbClr val="EEECE3"/>
                </a:solidFill>
                <a:latin typeface="Arial"/>
                <a:ea typeface="Arial"/>
                <a:cs typeface="Arial"/>
              </a:rPr>
              <a:t>A proof can establish that data belongs under a known root without sending the entire dataset.</a:t>
            </a:r>
          </a:p>
        </p:txBody>
      </p:sp>
      <p:sp>
        <p:nvSpPr>
          <p:cNvPr id="6" name="">
            <a:extLst xmlns:a="http://schemas.openxmlformats.org/drawingml/2006/main">
              <a:ext uri="{FF2B5EF4-FFF2-40B4-BE49-F238E27FC236}">
                <a16:creationId xmlns:a16="http://schemas.microsoft.com/office/drawing/2014/main" id="{D0D73AF3-DEE1-4A5B-9046-D765A62386D2}"/>
              </a:ext>
            </a:extLst>
          </p:cNvPr>
          <p:cNvSpPr>
            <a:spLocks xmlns:a="http://schemas.openxmlformats.org/drawingml/2006/main" noGrp="1"/>
          </p:cNvSpPr>
          <p:nvPr/>
        </p:nvSpPr>
        <p:spPr>
          <a:xfrm xmlns:a="http://schemas.openxmlformats.org/drawingml/2006/main">
            <a:off x="16097250" y="4191000"/>
            <a:ext cx="3619500" cy="1143000"/>
          </a:xfrm>
          <a:prstGeom xmlns:a="http://schemas.openxmlformats.org/drawingml/2006/main" prst="rect">
            <a:avLst/>
          </a:prstGeom>
          <a:solidFill xmlns:a="http://schemas.openxmlformats.org/drawingml/2006/main">
            <a:srgbClr val="10110F"/>
          </a:solidFill>
          <a:ln xmlns:a="http://schemas.openxmlformats.org/drawingml/2006/main" w="19050">
            <a:solidFill>
              <a:srgbClr val="C4C898"/>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C4C898"/>
                </a:solidFill>
                <a:latin typeface="Arial"/>
                <a:ea typeface="Arial"/>
                <a:cs typeface="Arial"/>
              </a:defRPr>
            </a:pPr>
            <a:r>
              <a:rPr sz="3750">
                <a:solidFill>
                  <a:srgbClr val="C4C898"/>
                </a:solidFill>
                <a:latin typeface="Arial"/>
                <a:ea typeface="Arial"/>
                <a:cs typeface="Arial"/>
              </a:rPr>
              <a:t>Root</a:t>
            </a:r>
          </a:p>
        </p:txBody>
      </p:sp>
      <p:sp>
        <p:nvSpPr>
          <p:cNvPr id="7" name="">
            <a:extLst xmlns:a="http://schemas.openxmlformats.org/drawingml/2006/main">
              <a:ext uri="{FF2B5EF4-FFF2-40B4-BE49-F238E27FC236}">
                <a16:creationId xmlns:a16="http://schemas.microsoft.com/office/drawing/2014/main" id="{3E34CBBD-9B90-407E-9AC6-E1A81BA44B20}"/>
              </a:ext>
            </a:extLst>
          </p:cNvPr>
          <p:cNvSpPr>
            <a:spLocks xmlns:a="http://schemas.openxmlformats.org/drawingml/2006/main" noGrp="1"/>
          </p:cNvSpPr>
          <p:nvPr/>
        </p:nvSpPr>
        <p:spPr>
          <a:xfrm xmlns:a="http://schemas.openxmlformats.org/drawingml/2006/main">
            <a:off x="13430250" y="6762750"/>
            <a:ext cx="3429000" cy="1143000"/>
          </a:xfrm>
          <a:prstGeom xmlns:a="http://schemas.openxmlformats.org/drawingml/2006/main" prst="rect">
            <a:avLst/>
          </a:prstGeom>
          <a:solidFill xmlns:a="http://schemas.openxmlformats.org/drawingml/2006/main">
            <a:srgbClr val="10110F"/>
          </a:solidFill>
          <a:ln xmlns:a="http://schemas.openxmlformats.org/drawingml/2006/main" w="19050">
            <a:solidFill>
              <a:srgbClr val="C4C898"/>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C4C898"/>
                </a:solidFill>
                <a:latin typeface="Arial"/>
                <a:ea typeface="Arial"/>
                <a:cs typeface="Arial"/>
              </a:defRPr>
            </a:pPr>
            <a:r>
              <a:rPr sz="3750">
                <a:solidFill>
                  <a:srgbClr val="C4C898"/>
                </a:solidFill>
                <a:latin typeface="Arial"/>
                <a:ea typeface="Arial"/>
                <a:cs typeface="Arial"/>
              </a:rPr>
              <a:t>Hash</a:t>
            </a:r>
          </a:p>
        </p:txBody>
      </p:sp>
      <p:sp>
        <p:nvSpPr>
          <p:cNvPr id="8" name="">
            <a:extLst xmlns:a="http://schemas.openxmlformats.org/drawingml/2006/main">
              <a:ext uri="{FF2B5EF4-FFF2-40B4-BE49-F238E27FC236}">
                <a16:creationId xmlns:a16="http://schemas.microsoft.com/office/drawing/2014/main" id="{1AD140C7-A6CA-4D4F-87D6-CB6CFA48C3A8}"/>
              </a:ext>
            </a:extLst>
          </p:cNvPr>
          <p:cNvSpPr>
            <a:spLocks xmlns:a="http://schemas.openxmlformats.org/drawingml/2006/main" noGrp="1"/>
          </p:cNvSpPr>
          <p:nvPr/>
        </p:nvSpPr>
        <p:spPr>
          <a:xfrm xmlns:a="http://schemas.openxmlformats.org/drawingml/2006/main">
            <a:off x="19050000" y="6762750"/>
            <a:ext cx="3429000" cy="1143000"/>
          </a:xfrm>
          <a:prstGeom xmlns:a="http://schemas.openxmlformats.org/drawingml/2006/main" prst="rect">
            <a:avLst/>
          </a:prstGeom>
          <a:solidFill xmlns:a="http://schemas.openxmlformats.org/drawingml/2006/main">
            <a:srgbClr val="10110F"/>
          </a:solidFill>
          <a:ln xmlns:a="http://schemas.openxmlformats.org/drawingml/2006/main" w="19050">
            <a:solidFill>
              <a:srgbClr val="666A57"/>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EEECE3"/>
                </a:solidFill>
                <a:latin typeface="Arial"/>
                <a:ea typeface="Arial"/>
                <a:cs typeface="Arial"/>
              </a:defRPr>
            </a:pPr>
            <a:r>
              <a:rPr sz="3750">
                <a:solidFill>
                  <a:srgbClr val="EEECE3"/>
                </a:solidFill>
                <a:latin typeface="Arial"/>
                <a:ea typeface="Arial"/>
                <a:cs typeface="Arial"/>
              </a:rPr>
              <a:t>Hash</a:t>
            </a:r>
          </a:p>
        </p:txBody>
      </p:sp>
      <p:cxnSp>
        <p:nvCxnSpPr>
          <p:cNvPr id="28" name=""/>
          <p:cNvCxnSpPr>
            <a:stCxn xmlns:a="http://schemas.openxmlformats.org/drawingml/2006/main" id="7" idx="0"/>
            <a:endCxn xmlns:a="http://schemas.openxmlformats.org/drawingml/2006/main" id="6" idx="2"/>
          </p:cNvCxnSpPr>
          <p:nvPr/>
        </p:nvCxnSpPr>
        <p:spPr>
          <a:xfrm xmlns:a="http://schemas.openxmlformats.org/drawingml/2006/main" flipV="1">
            <a:off x="15144750" y="5334000"/>
            <a:ext cx="2762250" cy="1428750"/>
          </a:xfrm>
          <a:prstGeom xmlns:a="http://schemas.openxmlformats.org/drawingml/2006/main" prst="straightConnector1">
            <a:avLst/>
          </a:prstGeom>
          <a:ln xmlns:a="http://schemas.openxmlformats.org/drawingml/2006/main" w="28575">
            <a:solidFill>
              <a:srgbClr val="C4C898"/>
            </a:solidFill>
            <a:tailEnd type="triangle" w="med" len="med"/>
          </a:ln>
        </p:spPr>
      </p:cxnSp>
      <p:cxnSp>
        <p:nvCxnSpPr>
          <p:cNvPr id="29" name=""/>
          <p:cNvCxnSpPr>
            <a:stCxn xmlns:a="http://schemas.openxmlformats.org/drawingml/2006/main" id="8" idx="0"/>
            <a:endCxn xmlns:a="http://schemas.openxmlformats.org/drawingml/2006/main" id="6" idx="2"/>
          </p:cNvCxnSpPr>
          <p:nvPr/>
        </p:nvCxnSpPr>
        <p:spPr>
          <a:xfrm xmlns:a="http://schemas.openxmlformats.org/drawingml/2006/main" flipH="1" flipV="1">
            <a:off x="17907000" y="5334000"/>
            <a:ext cx="2857500" cy="1428750"/>
          </a:xfrm>
          <a:prstGeom xmlns:a="http://schemas.openxmlformats.org/drawingml/2006/main" prst="straightConnector1">
            <a:avLst/>
          </a:prstGeom>
          <a:ln xmlns:a="http://schemas.openxmlformats.org/drawingml/2006/main" w="28575">
            <a:solidFill>
              <a:srgbClr val="666A57"/>
            </a:solidFill>
            <a:tailEnd type="triangle" w="med" len="med"/>
          </a:ln>
        </p:spPr>
      </p:cxnSp>
      <p:sp>
        <p:nvSpPr>
          <p:cNvPr id="11" name="">
            <a:extLst xmlns:a="http://schemas.openxmlformats.org/drawingml/2006/main">
              <a:ext uri="{FF2B5EF4-FFF2-40B4-BE49-F238E27FC236}">
                <a16:creationId xmlns:a16="http://schemas.microsoft.com/office/drawing/2014/main" id="{236BF18B-3690-4F58-AAB1-A1D31156C2D8}"/>
              </a:ext>
            </a:extLst>
          </p:cNvPr>
          <p:cNvSpPr>
            <a:spLocks xmlns:a="http://schemas.openxmlformats.org/drawingml/2006/main" noGrp="1"/>
          </p:cNvSpPr>
          <p:nvPr/>
        </p:nvSpPr>
        <p:spPr>
          <a:xfrm xmlns:a="http://schemas.openxmlformats.org/drawingml/2006/main">
            <a:off x="12192000" y="9620250"/>
            <a:ext cx="2381250" cy="1143000"/>
          </a:xfrm>
          <a:prstGeom xmlns:a="http://schemas.openxmlformats.org/drawingml/2006/main" prst="rect">
            <a:avLst/>
          </a:prstGeom>
          <a:solidFill xmlns:a="http://schemas.openxmlformats.org/drawingml/2006/main">
            <a:srgbClr val="10110F"/>
          </a:solidFill>
          <a:ln xmlns:a="http://schemas.openxmlformats.org/drawingml/2006/main" w="19050">
            <a:solidFill>
              <a:srgbClr val="C4C898"/>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C4C898"/>
                </a:solidFill>
                <a:latin typeface="Arial"/>
                <a:ea typeface="Arial"/>
                <a:cs typeface="Arial"/>
              </a:defRPr>
            </a:pPr>
            <a:r>
              <a:rPr sz="3750">
                <a:solidFill>
                  <a:srgbClr val="C4C898"/>
                </a:solidFill>
                <a:latin typeface="Arial"/>
                <a:ea typeface="Arial"/>
                <a:cs typeface="Arial"/>
              </a:rPr>
              <a:t>Data 1</a:t>
            </a:r>
          </a:p>
        </p:txBody>
      </p:sp>
      <p:cxnSp>
        <p:nvCxnSpPr>
          <p:cNvPr id="31" name=""/>
          <p:cNvCxnSpPr>
            <a:stCxn xmlns:a="http://schemas.openxmlformats.org/drawingml/2006/main" id="11" idx="0"/>
            <a:endCxn xmlns:a="http://schemas.openxmlformats.org/drawingml/2006/main" id="7" idx="2"/>
          </p:cNvCxnSpPr>
          <p:nvPr/>
        </p:nvCxnSpPr>
        <p:spPr>
          <a:xfrm xmlns:a="http://schemas.openxmlformats.org/drawingml/2006/main" flipV="1">
            <a:off x="13382625" y="7905750"/>
            <a:ext cx="1762125" cy="1714500"/>
          </a:xfrm>
          <a:prstGeom xmlns:a="http://schemas.openxmlformats.org/drawingml/2006/main" prst="straightConnector1">
            <a:avLst/>
          </a:prstGeom>
          <a:ln xmlns:a="http://schemas.openxmlformats.org/drawingml/2006/main" w="28575">
            <a:solidFill>
              <a:srgbClr val="C4C898"/>
            </a:solidFill>
            <a:tailEnd type="triangle" w="med" len="med"/>
          </a:ln>
        </p:spPr>
      </p:cxnSp>
      <p:sp>
        <p:nvSpPr>
          <p:cNvPr id="13" name="">
            <a:extLst xmlns:a="http://schemas.openxmlformats.org/drawingml/2006/main">
              <a:ext uri="{FF2B5EF4-FFF2-40B4-BE49-F238E27FC236}">
                <a16:creationId xmlns:a16="http://schemas.microsoft.com/office/drawing/2014/main" id="{433A30D1-BC99-4CC8-BF93-0AE803182188}"/>
              </a:ext>
            </a:extLst>
          </p:cNvPr>
          <p:cNvSpPr>
            <a:spLocks xmlns:a="http://schemas.openxmlformats.org/drawingml/2006/main" noGrp="1"/>
          </p:cNvSpPr>
          <p:nvPr/>
        </p:nvSpPr>
        <p:spPr>
          <a:xfrm xmlns:a="http://schemas.openxmlformats.org/drawingml/2006/main">
            <a:off x="15049500" y="9620250"/>
            <a:ext cx="2381250" cy="1143000"/>
          </a:xfrm>
          <a:prstGeom xmlns:a="http://schemas.openxmlformats.org/drawingml/2006/main" prst="rect">
            <a:avLst/>
          </a:prstGeom>
          <a:solidFill xmlns:a="http://schemas.openxmlformats.org/drawingml/2006/main">
            <a:srgbClr val="10110F"/>
          </a:solidFill>
          <a:ln xmlns:a="http://schemas.openxmlformats.org/drawingml/2006/main" w="19050">
            <a:solidFill>
              <a:srgbClr val="666A57"/>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EEECE3"/>
                </a:solidFill>
                <a:latin typeface="Arial"/>
                <a:ea typeface="Arial"/>
                <a:cs typeface="Arial"/>
              </a:defRPr>
            </a:pPr>
            <a:r>
              <a:rPr sz="3750">
                <a:solidFill>
                  <a:srgbClr val="EEECE3"/>
                </a:solidFill>
                <a:latin typeface="Arial"/>
                <a:ea typeface="Arial"/>
                <a:cs typeface="Arial"/>
              </a:rPr>
              <a:t>Data 2</a:t>
            </a:r>
          </a:p>
        </p:txBody>
      </p:sp>
      <p:cxnSp>
        <p:nvCxnSpPr>
          <p:cNvPr id="33" name=""/>
          <p:cNvCxnSpPr>
            <a:stCxn xmlns:a="http://schemas.openxmlformats.org/drawingml/2006/main" id="13" idx="0"/>
            <a:endCxn xmlns:a="http://schemas.openxmlformats.org/drawingml/2006/main" id="7" idx="2"/>
          </p:cNvCxnSpPr>
          <p:nvPr/>
        </p:nvCxnSpPr>
        <p:spPr>
          <a:xfrm xmlns:a="http://schemas.openxmlformats.org/drawingml/2006/main" flipH="1" flipV="1">
            <a:off x="15144750" y="7905750"/>
            <a:ext cx="1095375" cy="1714500"/>
          </a:xfrm>
          <a:prstGeom xmlns:a="http://schemas.openxmlformats.org/drawingml/2006/main" prst="straightConnector1">
            <a:avLst/>
          </a:prstGeom>
          <a:ln xmlns:a="http://schemas.openxmlformats.org/drawingml/2006/main" w="28575">
            <a:solidFill>
              <a:srgbClr val="666A57"/>
            </a:solidFill>
            <a:tailEnd type="triangle" w="med" len="med"/>
          </a:ln>
        </p:spPr>
      </p:cxnSp>
      <p:sp>
        <p:nvSpPr>
          <p:cNvPr id="15" name="">
            <a:extLst xmlns:a="http://schemas.openxmlformats.org/drawingml/2006/main">
              <a:ext uri="{FF2B5EF4-FFF2-40B4-BE49-F238E27FC236}">
                <a16:creationId xmlns:a16="http://schemas.microsoft.com/office/drawing/2014/main" id="{F644EBE7-83D6-424C-9FA3-D646048503CB}"/>
              </a:ext>
            </a:extLst>
          </p:cNvPr>
          <p:cNvSpPr>
            <a:spLocks xmlns:a="http://schemas.openxmlformats.org/drawingml/2006/main" noGrp="1"/>
          </p:cNvSpPr>
          <p:nvPr/>
        </p:nvSpPr>
        <p:spPr>
          <a:xfrm xmlns:a="http://schemas.openxmlformats.org/drawingml/2006/main">
            <a:off x="18478500" y="9620250"/>
            <a:ext cx="2381250" cy="1143000"/>
          </a:xfrm>
          <a:prstGeom xmlns:a="http://schemas.openxmlformats.org/drawingml/2006/main" prst="rect">
            <a:avLst/>
          </a:prstGeom>
          <a:solidFill xmlns:a="http://schemas.openxmlformats.org/drawingml/2006/main">
            <a:srgbClr val="10110F"/>
          </a:solidFill>
          <a:ln xmlns:a="http://schemas.openxmlformats.org/drawingml/2006/main" w="19050">
            <a:solidFill>
              <a:srgbClr val="666A57"/>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EEECE3"/>
                </a:solidFill>
                <a:latin typeface="Arial"/>
                <a:ea typeface="Arial"/>
                <a:cs typeface="Arial"/>
              </a:defRPr>
            </a:pPr>
            <a:r>
              <a:rPr sz="3750">
                <a:solidFill>
                  <a:srgbClr val="EEECE3"/>
                </a:solidFill>
                <a:latin typeface="Arial"/>
                <a:ea typeface="Arial"/>
                <a:cs typeface="Arial"/>
              </a:rPr>
              <a:t>Data 3</a:t>
            </a:r>
          </a:p>
        </p:txBody>
      </p:sp>
      <p:cxnSp>
        <p:nvCxnSpPr>
          <p:cNvPr id="35" name=""/>
          <p:cNvCxnSpPr>
            <a:stCxn xmlns:a="http://schemas.openxmlformats.org/drawingml/2006/main" id="15" idx="0"/>
            <a:endCxn xmlns:a="http://schemas.openxmlformats.org/drawingml/2006/main" id="8" idx="2"/>
          </p:cNvCxnSpPr>
          <p:nvPr/>
        </p:nvCxnSpPr>
        <p:spPr>
          <a:xfrm xmlns:a="http://schemas.openxmlformats.org/drawingml/2006/main" flipV="1">
            <a:off x="19669125" y="7905750"/>
            <a:ext cx="1095375" cy="1714500"/>
          </a:xfrm>
          <a:prstGeom xmlns:a="http://schemas.openxmlformats.org/drawingml/2006/main" prst="straightConnector1">
            <a:avLst/>
          </a:prstGeom>
          <a:ln xmlns:a="http://schemas.openxmlformats.org/drawingml/2006/main" w="28575">
            <a:solidFill>
              <a:srgbClr val="666A57"/>
            </a:solidFill>
            <a:tailEnd type="triangle" w="med" len="med"/>
          </a:ln>
        </p:spPr>
      </p:cxnSp>
      <p:sp>
        <p:nvSpPr>
          <p:cNvPr id="17" name="">
            <a:extLst xmlns:a="http://schemas.openxmlformats.org/drawingml/2006/main">
              <a:ext uri="{FF2B5EF4-FFF2-40B4-BE49-F238E27FC236}">
                <a16:creationId xmlns:a16="http://schemas.microsoft.com/office/drawing/2014/main" id="{AA0DD207-D078-40A0-BADD-3C3810B30CD4}"/>
              </a:ext>
            </a:extLst>
          </p:cNvPr>
          <p:cNvSpPr>
            <a:spLocks xmlns:a="http://schemas.openxmlformats.org/drawingml/2006/main" noGrp="1"/>
          </p:cNvSpPr>
          <p:nvPr/>
        </p:nvSpPr>
        <p:spPr>
          <a:xfrm xmlns:a="http://schemas.openxmlformats.org/drawingml/2006/main">
            <a:off x="21336000" y="9620250"/>
            <a:ext cx="2381250" cy="1143000"/>
          </a:xfrm>
          <a:prstGeom xmlns:a="http://schemas.openxmlformats.org/drawingml/2006/main" prst="rect">
            <a:avLst/>
          </a:prstGeom>
          <a:solidFill xmlns:a="http://schemas.openxmlformats.org/drawingml/2006/main">
            <a:srgbClr val="10110F"/>
          </a:solidFill>
          <a:ln xmlns:a="http://schemas.openxmlformats.org/drawingml/2006/main" w="19050">
            <a:solidFill>
              <a:srgbClr val="666A57"/>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750">
                <a:solidFill>
                  <a:srgbClr val="EEECE3"/>
                </a:solidFill>
                <a:latin typeface="Arial"/>
                <a:ea typeface="Arial"/>
                <a:cs typeface="Arial"/>
              </a:defRPr>
            </a:pPr>
            <a:r>
              <a:rPr sz="3750">
                <a:solidFill>
                  <a:srgbClr val="EEECE3"/>
                </a:solidFill>
                <a:latin typeface="Arial"/>
                <a:ea typeface="Arial"/>
                <a:cs typeface="Arial"/>
              </a:rPr>
              <a:t>Data 4</a:t>
            </a:r>
          </a:p>
        </p:txBody>
      </p:sp>
      <p:cxnSp>
        <p:nvCxnSpPr>
          <p:cNvPr id="37" name=""/>
          <p:cNvCxnSpPr>
            <a:stCxn xmlns:a="http://schemas.openxmlformats.org/drawingml/2006/main" id="17" idx="0"/>
            <a:endCxn xmlns:a="http://schemas.openxmlformats.org/drawingml/2006/main" id="8" idx="2"/>
          </p:cNvCxnSpPr>
          <p:nvPr/>
        </p:nvCxnSpPr>
        <p:spPr>
          <a:xfrm xmlns:a="http://schemas.openxmlformats.org/drawingml/2006/main" flipH="1" flipV="1">
            <a:off x="20764500" y="7905750"/>
            <a:ext cx="1762125" cy="1714500"/>
          </a:xfrm>
          <a:prstGeom xmlns:a="http://schemas.openxmlformats.org/drawingml/2006/main" prst="straightConnector1">
            <a:avLst/>
          </a:prstGeom>
          <a:ln xmlns:a="http://schemas.openxmlformats.org/drawingml/2006/main" w="28575">
            <a:solidFill>
              <a:srgbClr val="666A57"/>
            </a:solidFill>
            <a:tailEnd type="triangle" w="med" len="med"/>
          </a:ln>
        </p:spPr>
      </p:cxnSp>
      <p:sp>
        <p:nvSpPr>
          <p:cNvPr id="19" name="">
            <a:extLst xmlns:a="http://schemas.openxmlformats.org/drawingml/2006/main">
              <a:ext uri="{FF2B5EF4-FFF2-40B4-BE49-F238E27FC236}">
                <a16:creationId xmlns:a16="http://schemas.microsoft.com/office/drawing/2014/main" id="{027FB2DA-079F-4393-B391-F281897A0A7A}"/>
              </a:ext>
            </a:extLst>
          </p:cNvPr>
          <p:cNvSpPr>
            <a:spLocks xmlns:a="http://schemas.openxmlformats.org/drawingml/2006/main" noGrp="1"/>
          </p:cNvSpPr>
          <p:nvPr/>
        </p:nvSpPr>
        <p:spPr>
          <a:xfrm xmlns:a="http://schemas.openxmlformats.org/drawingml/2006/main">
            <a:off x="13144500" y="11906250"/>
            <a:ext cx="971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700" b="0">
                <a:solidFill>
                  <a:srgbClr val="BBBEB1"/>
                </a:solidFill>
                <a:latin typeface="Arial"/>
                <a:ea typeface="Arial"/>
                <a:cs typeface="Arial"/>
              </a:defRPr>
            </a:pPr>
            <a:r>
              <a:rPr sz="2700" b="0">
                <a:solidFill>
                  <a:srgbClr val="BBBEB1"/>
                </a:solidFill>
                <a:latin typeface="Arial"/>
                <a:ea typeface="Arial"/>
                <a:cs typeface="Arial"/>
              </a:rPr>
              <a:t>Conceptual example</a:t>
            </a:r>
          </a:p>
        </p:txBody>
      </p:sp>
    </p:spTree>
    <p:extLst>
      <p:ext uri="{BB962C8B-B14F-4D97-AF65-F5344CB8AC3E}">
        <p14:creationId xmlns:p14="http://schemas.microsoft.com/office/powerpoint/2010/main" val="1806502669"/>
      </p:ext>
    </p:extLst>
  </p:cSld>
</p:sld>
</file>

<file path=ppt/theme/theme1.xml><?xml version="1.0" encoding="utf-8"?>
<a:theme xmlns:a="http://schemas.openxmlformats.org/drawingml/2006/main" name="ChatGPT">
  <a:themeElements>
    <a:clrScheme name="Workshop">
      <a:dk1>
        <a:srgbClr val="10110F"/>
      </a:dk1>
      <a:lt1>
        <a:srgbClr val="EEECE3"/>
      </a:lt1>
      <a:dk2>
        <a:srgbClr val="10110F"/>
      </a:dk2>
      <a:lt2>
        <a:srgbClr val="EEECE3"/>
      </a:lt2>
      <a:accent1>
        <a:srgbClr val="C4C898"/>
      </a:accent1>
      <a:accent2>
        <a:srgbClr val="C4C898"/>
      </a:accent2>
      <a:accent3>
        <a:srgbClr val="C4C898"/>
      </a:accent3>
      <a:accent4>
        <a:srgbClr val="C4C898"/>
      </a:accent4>
      <a:accent5>
        <a:srgbClr val="C4C898"/>
      </a:accent5>
      <a:accent6>
        <a:srgbClr val="C4C898"/>
      </a:accent6>
      <a:hlink>
        <a:srgbClr val="C4C898"/>
      </a:hlink>
      <a:folHlink>
        <a:srgbClr val="C4C898"/>
      </a:folHlink>
    </a:clrScheme>
    <a:fontScheme name="Office">
      <a:majorFont>
        <a:latin typeface="Calibri Light"/>
        <a:ea typeface="Calibri Light"/>
        <a:cs typeface="Calibri Light"/>
      </a:majorFont>
      <a:minorFont>
        <a:latin typeface="Calibri"/>
        <a:ea typeface="Calibri"/>
        <a:cs typeface="Calibri"/>
      </a:minorFont>
    </a:fontScheme>
    <a:fmtScheme name="Worksho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2026-09-22T12:05:18.5060000Z</dcterms:created>
  <dcterms:modified xsi:type="dcterms:W3CDTF">2026-09-22T12:05:18.5060000Z</dcterms:modified>
</coreProperties>
</file>